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we're kicking off the Agent 365 Proof of Concept — a focused engagement designed to show you how Microsoft brings AI agents under the same governance controls you already rely on for your people. Over the next 4 to 6 weeks, we'll prove this with your real agents, in your real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challenge: your teams are already building and adopting AI agents. But most governance tooling was designed for human users. Agents don't fit that mold natively. The result is shadow agents, ungoverned data access, and compliance gaps that auditors will eventually find. This is the problem Agent 365 was built to solve.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365 isn't a bolt-on product or a separate console. It extends the Microsoft 365 platform you already operate — Entra for identity, Purview for data protection, Defender for threat detection, and the M365 Admin Center for management. Your agents get the same controls as your employees.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theoretical exercise. We'll work with agents your teams actually use — or plan to deploy. We'll configure each use case against your existing security and compliance posture, measure success against specific criteria, and at the end you'll have a clear decision framework for broader rollout.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most fundamental question: do you actually know how many AI agents are operating in your environment right now? Most organizations can't answer that confidently. Agent 365 provides a built-in registry in the M365 Admin Center that auto-discovers agents — no connectors, no third-party CMDB sync.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demo, we'll open the M365 Admin Center and walk through the agent registry. You'll see agents that were auto-discovered alongside those that were manually registered. We'll classify an unregistered agent live, then deploy a test agent and watch it appear in the registry within minutes.</a:t>
            </a:r>
          </a:p>
          <a:p/>
          <a:p>
            <a:r>
              <a:t>Detailed procedure: demo-steps.md, UC1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here is binary and measurable. By the end of this use case, every agent in your environment should be visible in the registry. We specifically look for the "aha moment" — when auto-discovery surfaces an agent that IT didn't know about.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differentiator here is "native." You're not installing a third-party scanner or building API integrations to populate a CMDB. Agent discovery is built into the same Admin Center your IT team already opens every morning.</a:t>
            </a:r>
          </a:p>
          <a:p/>
          <a:p>
            <a:r>
              <a:t>CISO Talking Points:</a:t>
            </a:r>
          </a:p>
          <a:p>
            <a:r>
              <a:t>- "We eliminate shadow agent risk at the platform layer — agents are registered as they're created, not after they're discovered."</a:t>
            </a:r>
          </a:p>
          <a:p>
            <a:r>
              <a:t>- "The registry is authoritative. It doesn't depend on network scanning or API polling that can miss ephemeral agents."</a:t>
            </a:r>
          </a:p>
          <a:p>
            <a:r>
              <a:t>- "Visibility is the prerequisite for governance. Native inventory means governance starts at creation."</a:t>
            </a:r>
          </a:p>
          <a:p/>
          <a:p>
            <a:r>
              <a:t>CIO Talking Points:</a:t>
            </a:r>
          </a:p>
          <a:p>
            <a:r>
              <a:t>- "No new procurement for agent discovery tooling — it's included in your existing M365 licensing."</a:t>
            </a:r>
          </a:p>
          <a:p>
            <a:r>
              <a:t>- "Your IT ops team doesn't learn a new console."</a:t>
            </a:r>
          </a:p>
          <a:p>
            <a:r>
              <a:t>- "Automatic coverage means no integration project to scope, fund, or maintain."</a:t>
            </a:r>
          </a:p>
          <a:p/>
          <a:p>
            <a:r>
              <a:t>If asked about CMDB: CMDBs track what you tell them to track. Native registry captures agents at creation — before anyone has to remember to register them.</a:t>
            </a:r>
          </a:p>
          <a:p>
            <a:r>
              <a:t>If asked about non-Microsoft agents: Third-party agents can be registered via API or admin onboarding. Microsoft-platform agents require zero effort.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it works technically. The discovery engine monitors your tenant's authentication and API activity. When it detects a non-human identity behaving as an agent, it surfaces that entity in the registry. Your admins get notified, classify it, and from that point forward it's under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how your agents authenticate today. Shared service accounts? Broad app registrations with more permissions than needed? Agent 365 gives each agent its own Entra identity — same fabric, same policies, same logs as your human users.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demo, we'll create a dedicated Entra Agent ID, assign it the minimum permissions needed for its function, and apply a conditional access policy. Then we'll trigger the agent to act, and you'll see its activity appear in the sign-in logs.</a:t>
            </a:r>
          </a:p>
          <a:p/>
          <a:p>
            <a:r>
              <a:t>Detailed procedure: demo-steps.md, UC2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validate that every agent in the POC has its own identity, that conditional access actually stops the agent when boundaries are crossed, and that sign-in logs capture full authentication details.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separates this from every other approach: there's no parallel identity store. Your agents are in the same directory as your people.</a:t>
            </a:r>
          </a:p>
          <a:p/>
          <a:p>
            <a:r>
              <a:t>CISO Talking Points:</a:t>
            </a:r>
          </a:p>
          <a:p>
            <a:r>
              <a:t>- "Agents get identities in the same Entra ID tenant your workforce uses. Conditional access, PIM, and access reviews apply without modification."</a:t>
            </a:r>
          </a:p>
          <a:p>
            <a:r>
              <a:t>- "Least-privilege for agents isn't a new initiative — it's an extension of the initiative you're already running for human identities."</a:t>
            </a:r>
          </a:p>
          <a:p>
            <a:r>
              <a:t>- "Workload identities for agents support the same zero-trust principles."</a:t>
            </a:r>
          </a:p>
          <a:p/>
          <a:p>
            <a:r>
              <a:t>CIO Talking Points:</a:t>
            </a:r>
          </a:p>
          <a:p>
            <a:r>
              <a:t>- "Zero new identity infrastructure to procure, deploy, or staff."</a:t>
            </a:r>
          </a:p>
          <a:p>
            <a:r>
              <a:t>- "Your IAM team's existing skills apply directly. No retraining, no new vendor certification."</a:t>
            </a:r>
          </a:p>
          <a:p>
            <a:r>
              <a:t>- "Access reviews for agents use the same workflow your managers already complete."</a:t>
            </a:r>
          </a:p>
          <a:p/>
          <a:p>
            <a:r>
              <a:t>If asked "Agents aren't users": They're workload identities — a purpose-built identity type in Entra ID for non-human entities.</a:t>
            </a:r>
          </a:p>
          <a:p>
            <a:r>
              <a:t>If asked about high-privilege agents: Same answer as for human admins: PIM with just-in-time elevation, time-bound access, and approval workflows.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Purview DLP policies already protect against users sharing sensitive data inappropriately. But what about your agents? They process documents, summarize emails, move data between systems — all at machine speed. Agent 365 extends the same Purview policies to agent activities.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configure a DLP policy that explicitly covers agent activities, then ask an agent to process a document marked "Confidential." You'll see the policy fire — blocking the agent from sharing that content externally.</a:t>
            </a:r>
          </a:p>
          <a:p/>
          <a:p>
            <a:r>
              <a:t>Detailed procedure: demo-steps.md, UC3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 three things: enforcement (policy fires correctly), visibility (audit captures the event), and integration (same search and export tools work for agent-touched content).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differentiator is unification. You don't write one set of DLP rules for users and another for agents.</a:t>
            </a:r>
          </a:p>
          <a:p/>
          <a:p>
            <a:r>
              <a:t>CISO Talking Points:</a:t>
            </a:r>
          </a:p>
          <a:p>
            <a:r>
              <a:t>- "Your DLP investment extends to agents automatically. The rules you spent years tuning protect agent interactions without rework."</a:t>
            </a:r>
          </a:p>
          <a:p>
            <a:r>
              <a:t>- "Sensitivity labels travel with the data — whether a human or an agent touches it."</a:t>
            </a:r>
          </a:p>
          <a:p>
            <a:r>
              <a:t>- "Policy violations by agents produce the same alerts, in the same console, investigated by the same team."</a:t>
            </a:r>
          </a:p>
          <a:p/>
          <a:p>
            <a:r>
              <a:t>CIO Talking Points:</a:t>
            </a:r>
          </a:p>
          <a:p>
            <a:r>
              <a:t>- "No new data protection platform to procure. Your existing Purview investment covers agents."</a:t>
            </a:r>
          </a:p>
          <a:p>
            <a:r>
              <a:t>- "No 'agent DLP project' to fund. Existing policies extend with configuration, not reimplementation."</a:t>
            </a:r>
          </a:p>
          <a:p>
            <a:r>
              <a:t>- "Cost of data protection governance doesn't scale linearly with agent count."</a:t>
            </a:r>
          </a:p>
          <a:p/>
          <a:p>
            <a:r>
              <a:t>If asked about human-pattern DLP: Agents interact through the same channels — email, SharePoint, Teams, OneDrive. Enforcement points are identical.</a:t>
            </a:r>
          </a:p>
          <a:p>
            <a:r>
              <a:t>If asked about different thresholds: Purview supports agent-scoped policy variants with different thresholds while reusing same sensitive information types.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SOC monitors users and endpoints around the clock. But what about agents? A compromised agent with broad permissions is an attacker's dream. Agent 365 brings agents into Defender XDR as first-class assets.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demo, we'll show your agents appearing as managed assets in the Defender console. Then we'll simulate anomalous behavior — an agent accessing resources outside its normal pattern. You'll see the alert fire, the attack-path visualization, and the SOC response workflow.</a:t>
            </a:r>
          </a:p>
          <a:p/>
          <a:p>
            <a:r>
              <a:t>Detailed procedure: demo-steps.md, UC4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measure detection time, accuracy of the attack-path visualization, and the SOC's ability to respond from a single console. The key validation is end-to-end: anomalous behavior → alert → visualization → response →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differentiator is "first-class." Agents aren't bolted onto Defender as a custom data source — they're native assets.</a:t>
            </a:r>
          </a:p>
          <a:p/>
          <a:p>
            <a:r>
              <a:t>CISO Talking Points:</a:t>
            </a:r>
          </a:p>
          <a:p>
            <a:r>
              <a:t>- "Agent threats appear in the same Defender incident queue as user and endpoint threats — one priority list, one triage workflow."</a:t>
            </a:r>
          </a:p>
          <a:p>
            <a:r>
              <a:t>- "Correlation between agent and human activity happens automatically."</a:t>
            </a:r>
          </a:p>
          <a:p>
            <a:r>
              <a:t>- "Your SOC doesn't need an 'agent security' specialization. Existing Defender skills apply directly."</a:t>
            </a:r>
          </a:p>
          <a:p>
            <a:r>
              <a:t>- "Automated response playbooks can isolate or disable a compromised agent the same way they isolate an endpoint."</a:t>
            </a:r>
          </a:p>
          <a:p/>
          <a:p>
            <a:r>
              <a:t>CIO Talking Points:</a:t>
            </a:r>
          </a:p>
          <a:p>
            <a:r>
              <a:t>- "No new security tool to procure for agent-specific threat detection."</a:t>
            </a:r>
          </a:p>
          <a:p>
            <a:r>
              <a:t>- "SOC headcount doesn't increase proportionally with agent count."</a:t>
            </a:r>
          </a:p>
          <a:p>
            <a:r>
              <a:t>- "MTTD and MTTR benefit from the same automation and AI-assisted investigation."</a:t>
            </a:r>
          </a:p>
          <a:p/>
          <a:p>
            <a:r>
              <a:t>If asked about alert fatigue: Correlation reduces total alert volume. A compromised agent + DLP flag = one correlated incident, not three separate alerts.</a:t>
            </a:r>
          </a:p>
          <a:p>
            <a:r>
              <a:t>If asked about agent-specific dashboards: Defender supports filtered views — agent-specific dashboards while benefiting from unified correlation.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hunting gives your SOC team the ability to proactively query agent data alongside all other Defender XDR telemetry. The AIAgentsInfo table surfaces your full Agent 365 inventory — enabling threat hunters to identify misconfigurations, risky agents, and security gaps before they become incidents.</a:t>
            </a:r>
          </a:p>
          <a:p/>
          <a:p>
            <a:r>
              <a:t>Detailed procedure: demo-steps.md, UC4 Step 10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key hunting queries that demonstrate proactive security posture management:</a:t>
            </a:r>
          </a:p>
          <a:p/>
          <a:p>
            <a:r>
              <a:t>1. List All Agents — Visibility into the full agent inventory from within the SOC console.</a:t>
            </a:r>
          </a:p>
          <a:p>
            <a:r>
              <a:t>2. Agents Without Instructions — High-risk: vulnerable to prompt injection without defined behavioral boundaries. Recommendation: ensure all agents have well-defined instructions.</a:t>
            </a:r>
          </a:p>
          <a:p>
            <a:r>
              <a:t>3. MCP Tools Configured — MCP extends capabilities but introduces security considerations. Recommendation: confirm tools are required, review for least privilege, remove unnecessary tools.</a:t>
            </a:r>
          </a:p>
          <a:p>
            <a:r>
              <a:t>4. Non-HTTPS Endpoints — Exposes data to interception/tampering. Recommendation: update all HTTP actions to HTTPS.</a:t>
            </a:r>
          </a:p>
          <a:p/>
          <a:p>
            <a:r>
              <a:t>These queries shift the SOC from reactive alerting to proactive posture management for AI agents.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scenario playing out right now: your compliance team passes an audit, but the auditor asks, "What about your AI agents?" If you can't answer that in the same compliance framework they already trust, you have a finding.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walk through the full lifecycle of an agent in audit terms. You'll see the trail from deployment through every action it took. Then we'll execute a lifecycle drill — blocking, deactivating, and deleting — verifying each action is audited.</a:t>
            </a:r>
          </a:p>
          <a:p/>
          <a:p>
            <a:r>
              <a:t>Detailed procedure: demo-steps.md, UC5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here means an auditor can pick up the compliance report, see agent activities alongside user activities, and trace any agent's full history from deployment to deletion.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 here is trust. Your auditors already accept evidence from M365 compliance tools. Agent activities feed that same system.</a:t>
            </a:r>
          </a:p>
          <a:p/>
          <a:p>
            <a:r>
              <a:t>CISO Talking Points:</a:t>
            </a:r>
          </a:p>
          <a:p>
            <a:r>
              <a:t>- "Agent lifecycle events are captured in the same unified audit log your compliance team already queries."</a:t>
            </a:r>
          </a:p>
          <a:p>
            <a:r>
              <a:t>- "Retention policies that apply to human activity audit data apply to agent activity audit data."</a:t>
            </a:r>
          </a:p>
          <a:p>
            <a:r>
              <a:t>- "When auditors ask 'how do you govern agents?', the answer is 'the same way we govern everything else.'"</a:t>
            </a:r>
          </a:p>
          <a:p/>
          <a:p>
            <a:r>
              <a:t>CIO Talking Points:</a:t>
            </a:r>
          </a:p>
          <a:p>
            <a:r>
              <a:t>- "No new compliance tooling procurement. Agent audit evidence lives in existing M365 compliance infrastructure."</a:t>
            </a:r>
          </a:p>
          <a:p>
            <a:r>
              <a:t>- "Your compliance team doesn't need new skills or certifications."</a:t>
            </a:r>
          </a:p>
          <a:p>
            <a:r>
              <a:t>- "Audit preparation cost doesn't increase with agent adoption."</a:t>
            </a:r>
          </a:p>
          <a:p/>
          <a:p>
            <a:r>
              <a:t>If asked about auditor unfamiliarity: They'll question it less if it's in a system they already trust.</a:t>
            </a:r>
          </a:p>
          <a:p>
            <a:r>
              <a:t>If asked about agent-specific reports: The unified audit log supports filtered queries for agent-specific views.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every agent action writes to the same unified audit log as user actions — same schema, same retention handling. When an agent changes lifecycle state, compliance workflows fire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users interact with AI agents inside the apps they use every day — Outlook, Teams, Word, SharePoint. But are those agent interactions governed? Agent 365 enables real-time allow/block enforcement within the productivity surface.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deploy a test agent connected to Teams and SharePoint, configure policies, and demonstrate both allowed and blocked actions in real time.</a:t>
            </a:r>
          </a:p>
          <a:p/>
          <a:p>
            <a:r>
              <a:t>Detailed procedure: demo-steps.md, UC6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to prove three things: allowed actions work smoothly, blocked actions are denied instantly, and policy changes take effect without requiring agent redeployment.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differentiator is seamlessness. Your users don't need a new app, a browser extension, or a sidebar.</a:t>
            </a:r>
          </a:p>
          <a:p/>
          <a:p>
            <a:r>
              <a:t>CISO Talking Points:</a:t>
            </a:r>
          </a:p>
          <a:p>
            <a:r>
              <a:t>- "Agents in familiar surfaces means users follow established security behaviors."</a:t>
            </a:r>
          </a:p>
          <a:p>
            <a:r>
              <a:t>- "No new client application means no new attack surface to secure, patch, or monitor."</a:t>
            </a:r>
          </a:p>
          <a:p>
            <a:r>
              <a:t>- "Security controls that apply to Teams and M365 apps apply to agent interactions within them."</a:t>
            </a:r>
          </a:p>
          <a:p/>
          <a:p>
            <a:r>
              <a:t>CIO Talking Points:</a:t>
            </a:r>
          </a:p>
          <a:p>
            <a:r>
              <a:t>- "Adoption cost is near zero. Users interact with agents in Teams and M365 apps they already use daily."</a:t>
            </a:r>
          </a:p>
          <a:p>
            <a:r>
              <a:t>- "No client deployment project. No MDM profile updates."</a:t>
            </a:r>
          </a:p>
          <a:p>
            <a:r>
              <a:t>- "IT admin overhead is configuration, not infrastructure."</a:t>
            </a:r>
          </a:p>
          <a:p/>
          <a:p>
            <a:r>
              <a:t>If asked about specialized interfaces: Adaptive Cards in Teams support complex workflows without leaving the familiar surface.</a:t>
            </a:r>
          </a:p>
          <a:p>
            <a:r>
              <a:t>If asked about controlling visibility: Agent visibility controlled through same Teams app permission policies and Entra ID group assignments.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bring it all together. Over these weeks, we proved that Agent 365 delivers real, measurable governance across every dimension. And we did it using the tools and frameworks your teams already operate. No new consoles, no parallel systems, no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POC proved the technology works with your agents in your environment. The next step is broader rollout — extending governance to your full agent estate, integrating with change management, and enabling self-service registration.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partnership throughout this Proof of Concept. Your account team is here to support next steps. We'll deliver the formal POC completion report within one week of engagement close. Let's govern your agents the way you govern your people.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Roles involved in the Agent 365 Proof of Concept engagement.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Agent types supported in the Agent 365 POC. Note: Agent 365 is the governance capability set within Microsoft 365 — not a separately licensed product.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Key terms for mixed-audience understanding.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457200" y="365760"/>
            <a:ext cx="241300" cy="2413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7550" y="365760"/>
            <a:ext cx="241300" cy="2413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26110"/>
            <a:ext cx="241300" cy="2413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7550" y="626110"/>
            <a:ext cx="241300" cy="2413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0" y="640080"/>
            <a:ext cx="2921000" cy="165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0" y="841248"/>
            <a:ext cx="1460500" cy="165100"/>
          </a:xfrm>
          <a:prstGeom prst="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10058400" cy="1371600"/>
          </a:xfrm>
          <a:prstGeom prst="rect">
            <a:avLst/>
          </a:prstGeom>
          <a:noFill/>
        </p:spPr>
        <p:txBody>
          <a:bodyPr wrap="square" anchor="ctr">
            <a:spAutoFit/>
          </a:bodyPr>
          <a:lstStyle/>
          <a:p>
            <a:pPr algn="ctr">
              <a:defRPr sz="8000" b="0">
                <a:solidFill>
                  <a:srgbClr val="FFFFFF"/>
                </a:solidFill>
                <a:latin typeface="Segoe UI Light"/>
              </a:defRPr>
            </a:pPr>
            <a:r>
              <a:t>Agent 365</a:t>
            </a:r>
          </a:p>
        </p:txBody>
      </p:sp>
      <p:sp>
        <p:nvSpPr>
          <p:cNvPr id="9" name="Rectangle 8"/>
          <p:cNvSpPr/>
          <p:nvPr/>
        </p:nvSpPr>
        <p:spPr>
          <a:xfrm>
            <a:off x="5029200" y="3840480"/>
            <a:ext cx="546100" cy="76200"/>
          </a:xfrm>
          <a:prstGeom prst="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23360"/>
            <a:ext cx="10058400" cy="548640"/>
          </a:xfrm>
          <a:prstGeom prst="rect">
            <a:avLst/>
          </a:prstGeom>
          <a:noFill/>
        </p:spPr>
        <p:txBody>
          <a:bodyPr wrap="square">
            <a:spAutoFit/>
          </a:bodyPr>
          <a:lstStyle/>
          <a:p>
            <a:pPr algn="ctr">
              <a:defRPr sz="2800">
                <a:solidFill>
                  <a:srgbClr val="FFFFFF"/>
                </a:solidFill>
                <a:latin typeface="Segoe UI Light"/>
              </a:defRPr>
            </a:pPr>
            <a:r>
              <a:t>Proof of Concept</a:t>
            </a:r>
          </a:p>
        </p:txBody>
      </p:sp>
      <p:sp>
        <p:nvSpPr>
          <p:cNvPr id="11" name="TextBox 10"/>
          <p:cNvSpPr txBox="1"/>
          <p:nvPr/>
        </p:nvSpPr>
        <p:spPr>
          <a:xfrm>
            <a:off x="914400" y="4663440"/>
            <a:ext cx="10058400" cy="457200"/>
          </a:xfrm>
          <a:prstGeom prst="rect">
            <a:avLst/>
          </a:prstGeom>
          <a:noFill/>
        </p:spPr>
        <p:txBody>
          <a:bodyPr wrap="square">
            <a:spAutoFit/>
          </a:bodyPr>
          <a:lstStyle/>
          <a:p>
            <a:pPr algn="ctr">
              <a:defRPr sz="1400">
                <a:solidFill>
                  <a:srgbClr val="FFFFFF"/>
                </a:solidFill>
                <a:latin typeface="Segoe UI"/>
              </a:defRPr>
            </a:pPr>
            <a:r>
              <a:t>Govern AI Agents with the Controls You Already Trust</a:t>
            </a:r>
          </a:p>
        </p:txBody>
      </p:sp>
      <p:sp>
        <p:nvSpPr>
          <p:cNvPr id="12" name="TextBox 11"/>
          <p:cNvSpPr txBox="1"/>
          <p:nvPr/>
        </p:nvSpPr>
        <p:spPr>
          <a:xfrm>
            <a:off x="914400" y="5120640"/>
            <a:ext cx="10058400" cy="365760"/>
          </a:xfrm>
          <a:prstGeom prst="rect">
            <a:avLst/>
          </a:prstGeom>
          <a:noFill/>
        </p:spPr>
        <p:txBody>
          <a:bodyPr wrap="square">
            <a:spAutoFit/>
          </a:bodyPr>
          <a:lstStyle/>
          <a:p>
            <a:pPr algn="ctr">
              <a:defRPr sz="1200">
                <a:solidFill>
                  <a:srgbClr val="50E6FF"/>
                </a:solidFill>
                <a:latin typeface="Segoe UI"/>
              </a:defRPr>
            </a:pPr>
            <a:r>
              <a:t>[Customer Name]  ·  [Date]  ·  4–6 Week Engagement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AI Agents Are Growing — Governance Isn't Keeping Up</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Organizations are deploying 10–50+ AI agents across departments — often without IT visibility</a:t>
            </a:r>
          </a:p>
          <a:p>
            <a:pPr marL="228600" indent="-228600">
              <a:spcBef>
                <a:spcPts val="400"/>
              </a:spcBef>
              <a:spcAft>
                <a:spcPts val="1000"/>
              </a:spcAft>
              <a:defRPr sz="1400">
                <a:solidFill>
                  <a:srgbClr val="000000"/>
                </a:solidFill>
                <a:latin typeface="Segoe UI Semibold"/>
              </a:defRPr>
              <a:buFont typeface="Arial"/>
              <a:buChar char="•"/>
            </a:pPr>
            <a:r>
              <a:t>Shadow agents create blind spots in identity, data protection, and compliance</a:t>
            </a:r>
          </a:p>
          <a:p>
            <a:pPr marL="228600" indent="-228600">
              <a:spcBef>
                <a:spcPts val="400"/>
              </a:spcBef>
              <a:spcAft>
                <a:spcPts val="1000"/>
              </a:spcAft>
              <a:defRPr sz="1400">
                <a:solidFill>
                  <a:srgbClr val="000000"/>
                </a:solidFill>
                <a:latin typeface="Segoe UI Semibold"/>
              </a:defRPr>
              <a:buFont typeface="Arial"/>
              <a:buChar char="•"/>
            </a:pPr>
            <a:r>
              <a:t>Traditional tools weren't built for non-human actors operating at machine speed</a:t>
            </a:r>
          </a:p>
          <a:p>
            <a:pPr marL="228600" indent="-228600">
              <a:spcBef>
                <a:spcPts val="400"/>
              </a:spcBef>
              <a:spcAft>
                <a:spcPts val="1000"/>
              </a:spcAft>
              <a:defRPr sz="1400">
                <a:solidFill>
                  <a:srgbClr val="000000"/>
                </a:solidFill>
                <a:latin typeface="Segoe UI Semibold"/>
              </a:defRPr>
              <a:buFont typeface="Arial"/>
              <a:buChar char="•"/>
            </a:pPr>
            <a:r>
              <a:t>The gap between agent adoption and agent governance widens every quarter</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One Platform. Same Controls. Now for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Discover and register every agent — eliminate shadow AI</a:t>
            </a:r>
          </a:p>
          <a:p>
            <a:pPr marL="228600" indent="-228600">
              <a:spcBef>
                <a:spcPts val="400"/>
              </a:spcBef>
              <a:spcAft>
                <a:spcPts val="1000"/>
              </a:spcAft>
              <a:defRPr sz="1400">
                <a:solidFill>
                  <a:srgbClr val="000000"/>
                </a:solidFill>
                <a:latin typeface="Segoe UI Semibold"/>
              </a:defRPr>
              <a:buFont typeface="Arial"/>
              <a:buChar char="•"/>
            </a:pPr>
            <a:r>
              <a:t>Assign identity and least-privilege access through Entra ID</a:t>
            </a:r>
          </a:p>
          <a:p>
            <a:pPr marL="228600" indent="-228600">
              <a:spcBef>
                <a:spcPts val="400"/>
              </a:spcBef>
              <a:spcAft>
                <a:spcPts val="1000"/>
              </a:spcAft>
              <a:defRPr sz="1400">
                <a:solidFill>
                  <a:srgbClr val="000000"/>
                </a:solidFill>
                <a:latin typeface="Segoe UI Semibold"/>
              </a:defRPr>
              <a:buFont typeface="Arial"/>
              <a:buChar char="•"/>
            </a:pPr>
            <a:r>
              <a:t>Apply the same DLP, sensitivity labels, and insider risk policies</a:t>
            </a:r>
          </a:p>
          <a:p>
            <a:pPr marL="228600" indent="-228600">
              <a:spcBef>
                <a:spcPts val="400"/>
              </a:spcBef>
              <a:spcAft>
                <a:spcPts val="1000"/>
              </a:spcAft>
              <a:defRPr sz="1400">
                <a:solidFill>
                  <a:srgbClr val="000000"/>
                </a:solidFill>
                <a:latin typeface="Segoe UI Semibold"/>
              </a:defRPr>
              <a:buFont typeface="Arial"/>
              <a:buChar char="•"/>
            </a:pPr>
            <a:r>
              <a:t>Detect threats and respond in Defender — agents as first-class assets</a:t>
            </a:r>
          </a:p>
          <a:p>
            <a:pPr marL="228600" indent="-228600">
              <a:spcBef>
                <a:spcPts val="400"/>
              </a:spcBef>
              <a:spcAft>
                <a:spcPts val="1000"/>
              </a:spcAft>
              <a:defRPr sz="1400">
                <a:solidFill>
                  <a:srgbClr val="000000"/>
                </a:solidFill>
                <a:latin typeface="Segoe UI Semibold"/>
              </a:defRPr>
              <a:buFont typeface="Arial"/>
              <a:buChar char="•"/>
            </a:pPr>
            <a:r>
              <a:t>Maintain full audit trail using M365 compliance fabric</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Proof of Concept — Your Agents, Your Environment, Real Results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6 use cases covering the full agent governance lifecycle</a:t>
            </a:r>
          </a:p>
          <a:p>
            <a:pPr marL="228600" indent="-228600">
              <a:spcBef>
                <a:spcPts val="400"/>
              </a:spcBef>
              <a:spcAft>
                <a:spcPts val="1000"/>
              </a:spcAft>
              <a:defRPr sz="1400">
                <a:solidFill>
                  <a:srgbClr val="000000"/>
                </a:solidFill>
                <a:latin typeface="Segoe UI Semibold"/>
              </a:defRPr>
              <a:buFont typeface="Arial"/>
              <a:buChar char="•"/>
            </a:pPr>
            <a:r>
              <a:t>Executed against 3+ agents you identify from your environment</a:t>
            </a:r>
          </a:p>
          <a:p>
            <a:pPr marL="228600" indent="-228600">
              <a:spcBef>
                <a:spcPts val="400"/>
              </a:spcBef>
              <a:spcAft>
                <a:spcPts val="1000"/>
              </a:spcAft>
              <a:defRPr sz="1400">
                <a:solidFill>
                  <a:srgbClr val="000000"/>
                </a:solidFill>
                <a:latin typeface="Segoe UI Semibold"/>
              </a:defRPr>
              <a:buFont typeface="Arial"/>
              <a:buChar char="•"/>
            </a:pPr>
            <a:r>
              <a:t>Built on your existing Entra, Purview, and Defender configurations</a:t>
            </a:r>
          </a:p>
          <a:p>
            <a:pPr marL="228600" indent="-228600">
              <a:spcBef>
                <a:spcPts val="400"/>
              </a:spcBef>
              <a:spcAft>
                <a:spcPts val="1000"/>
              </a:spcAft>
              <a:defRPr sz="1400">
                <a:solidFill>
                  <a:srgbClr val="000000"/>
                </a:solidFill>
                <a:latin typeface="Segoe UI Semibold"/>
              </a:defRPr>
              <a:buFont typeface="Arial"/>
              <a:buChar char="•"/>
            </a:pPr>
            <a:r>
              <a:t>Measurable success criteria for every use case</a:t>
            </a:r>
          </a:p>
          <a:p>
            <a:pPr marL="228600" indent="-228600">
              <a:spcBef>
                <a:spcPts val="400"/>
              </a:spcBef>
              <a:spcAft>
                <a:spcPts val="1000"/>
              </a:spcAft>
              <a:defRPr sz="1400">
                <a:solidFill>
                  <a:srgbClr val="000000"/>
                </a:solidFill>
                <a:latin typeface="Segoe UI Semibold"/>
              </a:defRPr>
              <a:buFont typeface="Arial"/>
              <a:buChar char="•"/>
            </a:pPr>
            <a:r>
              <a:t>Clear path from POC to production rollout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1</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1</a:t>
            </a:r>
          </a:p>
          <a:p>
            <a:pPr algn="l">
              <a:spcBef>
                <a:spcPts val="800"/>
              </a:spcBef>
              <a:defRPr sz="2200">
                <a:solidFill>
                  <a:srgbClr val="50E6FF"/>
                </a:solidFill>
                <a:latin typeface="Segoe UI"/>
              </a:defRPr>
            </a:pPr>
            <a:r>
              <a:t>Agent Inventory and Discovery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Do You Know Every Agent Operating in Your Tenant?</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Shadow agents bypass security review and operate without IT awareness</a:t>
            </a:r>
          </a:p>
          <a:p>
            <a:pPr marL="228600" indent="-228600">
              <a:spcBef>
                <a:spcPts val="400"/>
              </a:spcBef>
              <a:spcAft>
                <a:spcPts val="1000"/>
              </a:spcAft>
              <a:defRPr sz="1400">
                <a:solidFill>
                  <a:srgbClr val="000000"/>
                </a:solidFill>
                <a:latin typeface="Segoe UI Semibold"/>
              </a:defRPr>
              <a:buFont typeface="Arial"/>
              <a:buChar char="•"/>
            </a:pPr>
            <a:r>
              <a:t>Without a registry, there's no way to apply policy, revoke access, or audit behavior</a:t>
            </a:r>
          </a:p>
          <a:p>
            <a:pPr marL="228600" indent="-228600">
              <a:spcBef>
                <a:spcPts val="400"/>
              </a:spcBef>
              <a:spcAft>
                <a:spcPts val="1000"/>
              </a:spcAft>
              <a:defRPr sz="1400">
                <a:solidFill>
                  <a:srgbClr val="000000"/>
                </a:solidFill>
                <a:latin typeface="Segoe UI Semibold"/>
              </a:defRPr>
              <a:buFont typeface="Arial"/>
              <a:buChar char="•"/>
            </a:pPr>
            <a:r>
              <a:t>Agent 365 provides a native registry in M365 Admin Center with auto-discovery</a:t>
            </a:r>
          </a:p>
          <a:p>
            <a:pPr marL="228600" indent="-228600">
              <a:spcBef>
                <a:spcPts val="400"/>
              </a:spcBef>
              <a:spcAft>
                <a:spcPts val="1000"/>
              </a:spcAft>
              <a:defRPr sz="1400">
                <a:solidFill>
                  <a:srgbClr val="000000"/>
                </a:solidFill>
                <a:latin typeface="Segoe UI Semibold"/>
              </a:defRPr>
              <a:buFont typeface="Arial"/>
              <a:buChar char="•"/>
            </a:pPr>
            <a:r>
              <a:t>Goal: Zero shadow agents — every agent visible, classified, and accountable</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Agent Registry and Auto-Discovery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Navigate to Settings → Org settings → Agent management → Agent registry</a:t>
            </a:r>
          </a:p>
          <a:p>
            <a:pPr marL="228600" indent="-228600">
              <a:spcBef>
                <a:spcPts val="400"/>
              </a:spcBef>
              <a:spcAft>
                <a:spcPts val="1000"/>
              </a:spcAft>
              <a:defRPr sz="1400">
                <a:solidFill>
                  <a:srgbClr val="000000"/>
                </a:solidFill>
                <a:latin typeface="Segoe UI Semibold"/>
              </a:defRPr>
              <a:buFont typeface="Arial"/>
              <a:buChar char="•"/>
            </a:pPr>
            <a:r>
              <a:t>Review auto-discovered agents vs. manually registered agents</a:t>
            </a:r>
          </a:p>
          <a:p>
            <a:pPr marL="228600" indent="-228600">
              <a:spcBef>
                <a:spcPts val="400"/>
              </a:spcBef>
              <a:spcAft>
                <a:spcPts val="1000"/>
              </a:spcAft>
              <a:defRPr sz="1400">
                <a:solidFill>
                  <a:srgbClr val="000000"/>
                </a:solidFill>
                <a:latin typeface="Segoe UI Semibold"/>
              </a:defRPr>
              <a:buFont typeface="Arial"/>
              <a:buChar char="•"/>
            </a:pPr>
            <a:r>
              <a:t>Classify an unregistered agent (assign owner, purpose, risk tier)</a:t>
            </a:r>
          </a:p>
          <a:p>
            <a:pPr marL="228600" indent="-228600">
              <a:spcBef>
                <a:spcPts val="400"/>
              </a:spcBef>
              <a:spcAft>
                <a:spcPts val="1000"/>
              </a:spcAft>
              <a:defRPr sz="1400">
                <a:solidFill>
                  <a:srgbClr val="000000"/>
                </a:solidFill>
                <a:latin typeface="Segoe UI Semibold"/>
              </a:defRPr>
              <a:buFont typeface="Arial"/>
              <a:buChar char="•"/>
            </a:pPr>
            <a:r>
              <a:t>Demonstrate real-time discovery of a newly deployed agent</a:t>
            </a:r>
          </a:p>
          <a:p>
            <a:pPr marL="228600" indent="-228600">
              <a:spcBef>
                <a:spcPts val="400"/>
              </a:spcBef>
              <a:spcAft>
                <a:spcPts val="1000"/>
              </a:spcAft>
              <a:defRPr sz="1400">
                <a:solidFill>
                  <a:srgbClr val="000000"/>
                </a:solidFill>
                <a:latin typeface="Segoe UI Semibold"/>
              </a:defRPr>
              <a:buFont typeface="Arial"/>
              <a:buChar char="•"/>
            </a:pPr>
            <a:r>
              <a:t>Show filtering and search across agent inventory</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Agent Discovery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100% of known agents appear in the registry within 24 hours of deployment</a:t>
            </a:r>
          </a:p>
          <a:p>
            <a:pPr marL="228600" indent="-228600">
              <a:spcBef>
                <a:spcPts val="400"/>
              </a:spcBef>
              <a:spcAft>
                <a:spcPts val="1000"/>
              </a:spcAft>
              <a:defRPr sz="1400">
                <a:solidFill>
                  <a:srgbClr val="000000"/>
                </a:solidFill>
                <a:latin typeface="Segoe UI Semibold"/>
              </a:defRPr>
              <a:buFont typeface="Arial"/>
              <a:buChar char="•"/>
            </a:pPr>
            <a:r>
              <a:t>Auto-discovery identifies at least 1 previously unknown agent in your tenant</a:t>
            </a:r>
          </a:p>
          <a:p>
            <a:pPr marL="228600" indent="-228600">
              <a:spcBef>
                <a:spcPts val="400"/>
              </a:spcBef>
              <a:spcAft>
                <a:spcPts val="1000"/>
              </a:spcAft>
              <a:defRPr sz="1400">
                <a:solidFill>
                  <a:srgbClr val="000000"/>
                </a:solidFill>
                <a:latin typeface="Segoe UI Semibold"/>
              </a:defRPr>
              <a:buFont typeface="Arial"/>
              <a:buChar char="•"/>
            </a:pPr>
            <a:r>
              <a:t>Every registered agent has an assigned owner and risk classification</a:t>
            </a:r>
          </a:p>
          <a:p>
            <a:pPr marL="228600" indent="-228600">
              <a:spcBef>
                <a:spcPts val="400"/>
              </a:spcBef>
              <a:spcAft>
                <a:spcPts val="1000"/>
              </a:spcAft>
              <a:defRPr sz="1400">
                <a:solidFill>
                  <a:srgbClr val="000000"/>
                </a:solidFill>
                <a:latin typeface="Segoe UI Semibold"/>
              </a:defRPr>
              <a:buFont typeface="Arial"/>
              <a:buChar char="•"/>
            </a:pPr>
            <a:r>
              <a:t>Zero agents operating outside the registry by end of POC</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Unified Registry — Native, Not Bolted 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Built into M365 Admin Center — same console your admins already use daily</a:t>
            </a:r>
          </a:p>
          <a:p>
            <a:pPr marL="228600" indent="-228600">
              <a:spcBef>
                <a:spcPts val="400"/>
              </a:spcBef>
              <a:spcAft>
                <a:spcPts val="1000"/>
              </a:spcAft>
              <a:defRPr sz="1400">
                <a:solidFill>
                  <a:srgbClr val="000000"/>
                </a:solidFill>
                <a:latin typeface="Segoe UI Semibold"/>
              </a:defRPr>
              <a:buFont typeface="Arial"/>
              <a:buChar char="•"/>
            </a:pPr>
            <a:r>
              <a:t>Auto-discovery is native to the platform — no API integrations or third-party scanners</a:t>
            </a:r>
          </a:p>
          <a:p>
            <a:pPr marL="228600" indent="-228600">
              <a:spcBef>
                <a:spcPts val="400"/>
              </a:spcBef>
              <a:spcAft>
                <a:spcPts val="1000"/>
              </a:spcAft>
              <a:defRPr sz="1400">
                <a:solidFill>
                  <a:srgbClr val="000000"/>
                </a:solidFill>
                <a:latin typeface="Segoe UI Semibold"/>
              </a:defRPr>
              <a:buFont typeface="Arial"/>
              <a:buChar char="•"/>
            </a:pPr>
            <a:r>
              <a:t>Agent metadata lives in the same directory as users, groups, and devices</a:t>
            </a:r>
          </a:p>
          <a:p>
            <a:pPr marL="228600" indent="-228600">
              <a:spcBef>
                <a:spcPts val="400"/>
              </a:spcBef>
              <a:spcAft>
                <a:spcPts val="1000"/>
              </a:spcAft>
              <a:defRPr sz="1400">
                <a:solidFill>
                  <a:srgbClr val="000000"/>
                </a:solidFill>
                <a:latin typeface="Segoe UI Semibold"/>
              </a:defRPr>
              <a:buFont typeface="Arial"/>
              <a:buChar char="•"/>
            </a:pPr>
            <a:r>
              <a:t>Competing solutions require separate inventory tools with manual sync</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Under the Hood: Agent Discovery Flow</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register via Entra app registration or are detected through M365 API activity</a:t>
            </a:r>
          </a:p>
          <a:p>
            <a:pPr marL="228600" indent="-228600">
              <a:spcBef>
                <a:spcPts val="400"/>
              </a:spcBef>
              <a:spcAft>
                <a:spcPts val="1000"/>
              </a:spcAft>
              <a:defRPr sz="1400">
                <a:solidFill>
                  <a:srgbClr val="000000"/>
                </a:solidFill>
                <a:latin typeface="Segoe UI Semibold"/>
              </a:defRPr>
              <a:buFont typeface="Arial"/>
              <a:buChar char="•"/>
            </a:pPr>
            <a:r>
              <a:t>Discovery engine monitors authentication events, Graph API calls, and resource access</a:t>
            </a:r>
          </a:p>
          <a:p>
            <a:pPr marL="228600" indent="-228600">
              <a:spcBef>
                <a:spcPts val="400"/>
              </a:spcBef>
              <a:spcAft>
                <a:spcPts val="1000"/>
              </a:spcAft>
              <a:defRPr sz="1400">
                <a:solidFill>
                  <a:srgbClr val="000000"/>
                </a:solidFill>
                <a:latin typeface="Segoe UI Semibold"/>
              </a:defRPr>
              <a:buFont typeface="Arial"/>
              <a:buChar char="•"/>
            </a:pPr>
            <a:r>
              <a:t>Newly detected agents surface in registry with "Unclassified" status</a:t>
            </a:r>
          </a:p>
          <a:p>
            <a:pPr marL="228600" indent="-228600">
              <a:spcBef>
                <a:spcPts val="400"/>
              </a:spcBef>
              <a:spcAft>
                <a:spcPts val="1000"/>
              </a:spcAft>
              <a:defRPr sz="1400">
                <a:solidFill>
                  <a:srgbClr val="000000"/>
                </a:solidFill>
                <a:latin typeface="Segoe UI Semibold"/>
              </a:defRPr>
              <a:buFont typeface="Arial"/>
              <a:buChar char="•"/>
            </a:pPr>
            <a:r>
              <a:t>Admins receive alerts for unregistered agent activity</a:t>
            </a:r>
          </a:p>
          <a:p>
            <a:pPr marL="228600" indent="-228600">
              <a:spcBef>
                <a:spcPts val="400"/>
              </a:spcBef>
              <a:spcAft>
                <a:spcPts val="1000"/>
              </a:spcAft>
              <a:defRPr sz="1400">
                <a:solidFill>
                  <a:srgbClr val="000000"/>
                </a:solidFill>
                <a:latin typeface="Segoe UI Semibold"/>
              </a:defRPr>
              <a:buFont typeface="Arial"/>
              <a:buChar char="•"/>
            </a:pPr>
            <a:r>
              <a:t>Full audit trail from first detection through classification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2</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2</a:t>
            </a:r>
          </a:p>
          <a:p>
            <a:pPr algn="l">
              <a:spcBef>
                <a:spcPts val="800"/>
              </a:spcBef>
              <a:defRPr sz="2200">
                <a:solidFill>
                  <a:srgbClr val="50E6FF"/>
                </a:solidFill>
                <a:latin typeface="Segoe UI"/>
              </a:defRPr>
            </a:pPr>
            <a:r>
              <a:t>Agent Identity and Least-Privilege Access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If Agents Don't Have Identity, They Can't Have Boundaries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today often share service accounts or use over-privileged app registrations</a:t>
            </a:r>
          </a:p>
          <a:p>
            <a:pPr marL="228600" indent="-228600">
              <a:spcBef>
                <a:spcPts val="400"/>
              </a:spcBef>
              <a:spcAft>
                <a:spcPts val="1000"/>
              </a:spcAft>
              <a:defRPr sz="1400">
                <a:solidFill>
                  <a:srgbClr val="000000"/>
                </a:solidFill>
                <a:latin typeface="Segoe UI Semibold"/>
              </a:defRPr>
              <a:buFont typeface="Arial"/>
              <a:buChar char="•"/>
            </a:pPr>
            <a:r>
              <a:t>Without dedicated identity, you can't apply conditional access or audit individually</a:t>
            </a:r>
          </a:p>
          <a:p>
            <a:pPr marL="228600" indent="-228600">
              <a:spcBef>
                <a:spcPts val="400"/>
              </a:spcBef>
              <a:spcAft>
                <a:spcPts val="1000"/>
              </a:spcAft>
              <a:defRPr sz="1400">
                <a:solidFill>
                  <a:srgbClr val="000000"/>
                </a:solidFill>
                <a:latin typeface="Segoe UI Semibold"/>
              </a:defRPr>
              <a:buFont typeface="Arial"/>
              <a:buChar char="•"/>
            </a:pPr>
            <a:r>
              <a:t>Agent 365 gives each agent an Entra Agent ID — same identity fabric as employees</a:t>
            </a:r>
          </a:p>
          <a:p>
            <a:pPr marL="228600" indent="-228600">
              <a:spcBef>
                <a:spcPts val="400"/>
              </a:spcBef>
              <a:spcAft>
                <a:spcPts val="1000"/>
              </a:spcAft>
              <a:defRPr sz="1400">
                <a:solidFill>
                  <a:srgbClr val="000000"/>
                </a:solidFill>
                <a:latin typeface="Segoe UI Semibold"/>
              </a:defRPr>
              <a:buFont typeface="Arial"/>
              <a:buChar char="•"/>
            </a:pPr>
            <a:r>
              <a:t>Enables scoped tokens, conditional access policies, and per-agent sign-in logs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Entra Agent ID and Conditional Access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Create an Entra Agent ID for a test agent</a:t>
            </a:r>
          </a:p>
          <a:p>
            <a:pPr marL="228600" indent="-228600">
              <a:spcBef>
                <a:spcPts val="400"/>
              </a:spcBef>
              <a:spcAft>
                <a:spcPts val="1000"/>
              </a:spcAft>
              <a:defRPr sz="1400">
                <a:solidFill>
                  <a:srgbClr val="000000"/>
                </a:solidFill>
                <a:latin typeface="Segoe UI Semibold"/>
              </a:defRPr>
              <a:buFont typeface="Arial"/>
              <a:buChar char="•"/>
            </a:pPr>
            <a:r>
              <a:t>Assign scoped permissions using least-privilege principles</a:t>
            </a:r>
          </a:p>
          <a:p>
            <a:pPr marL="228600" indent="-228600">
              <a:spcBef>
                <a:spcPts val="400"/>
              </a:spcBef>
              <a:spcAft>
                <a:spcPts val="1000"/>
              </a:spcAft>
              <a:defRPr sz="1400">
                <a:solidFill>
                  <a:srgbClr val="000000"/>
                </a:solidFill>
                <a:latin typeface="Segoe UI Semibold"/>
              </a:defRPr>
              <a:buFont typeface="Arial"/>
              <a:buChar char="•"/>
            </a:pPr>
            <a:r>
              <a:t>Apply a conditional access policy (e.g., restrict to specific network or resource)</a:t>
            </a:r>
          </a:p>
          <a:p>
            <a:pPr marL="228600" indent="-228600">
              <a:spcBef>
                <a:spcPts val="400"/>
              </a:spcBef>
              <a:spcAft>
                <a:spcPts val="1000"/>
              </a:spcAft>
              <a:defRPr sz="1400">
                <a:solidFill>
                  <a:srgbClr val="000000"/>
                </a:solidFill>
                <a:latin typeface="Segoe UI Semibold"/>
              </a:defRPr>
              <a:buFont typeface="Arial"/>
              <a:buChar char="•"/>
            </a:pPr>
            <a:r>
              <a:t>Trigger agent activity and observe sign-in log entry</a:t>
            </a:r>
          </a:p>
          <a:p>
            <a:pPr marL="228600" indent="-228600">
              <a:spcBef>
                <a:spcPts val="400"/>
              </a:spcBef>
              <a:spcAft>
                <a:spcPts val="1000"/>
              </a:spcAft>
              <a:defRPr sz="1400">
                <a:solidFill>
                  <a:srgbClr val="000000"/>
                </a:solidFill>
                <a:latin typeface="Segoe UI Semibold"/>
              </a:defRPr>
              <a:buFont typeface="Arial"/>
              <a:buChar char="•"/>
            </a:pPr>
            <a:r>
              <a:t>Demonstrate token scoping and permission boundary enforcement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Agent Identity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Each POC agent has a dedicated Entra Agent ID (no shared accounts)</a:t>
            </a:r>
          </a:p>
          <a:p>
            <a:pPr marL="228600" indent="-228600">
              <a:spcBef>
                <a:spcPts val="400"/>
              </a:spcBef>
              <a:spcAft>
                <a:spcPts val="1000"/>
              </a:spcAft>
              <a:defRPr sz="1400">
                <a:solidFill>
                  <a:srgbClr val="000000"/>
                </a:solidFill>
                <a:latin typeface="Segoe UI Semibold"/>
              </a:defRPr>
              <a:buFont typeface="Arial"/>
              <a:buChar char="•"/>
            </a:pPr>
            <a:r>
              <a:t>Conditional access policy correctly blocks agent activity outside defined boundaries</a:t>
            </a:r>
          </a:p>
          <a:p>
            <a:pPr marL="228600" indent="-228600">
              <a:spcBef>
                <a:spcPts val="400"/>
              </a:spcBef>
              <a:spcAft>
                <a:spcPts val="1000"/>
              </a:spcAft>
              <a:defRPr sz="1400">
                <a:solidFill>
                  <a:srgbClr val="000000"/>
                </a:solidFill>
                <a:latin typeface="Segoe UI Semibold"/>
              </a:defRPr>
              <a:buFont typeface="Arial"/>
              <a:buChar char="•"/>
            </a:pPr>
            <a:r>
              <a:t>Sign-in logs capture every agent authentication event with full detail</a:t>
            </a:r>
          </a:p>
          <a:p>
            <a:pPr marL="228600" indent="-228600">
              <a:spcBef>
                <a:spcPts val="400"/>
              </a:spcBef>
              <a:spcAft>
                <a:spcPts val="1000"/>
              </a:spcAft>
              <a:defRPr sz="1400">
                <a:solidFill>
                  <a:srgbClr val="000000"/>
                </a:solidFill>
                <a:latin typeface="Segoe UI Semibold"/>
              </a:defRPr>
              <a:buFont typeface="Arial"/>
              <a:buChar char="•"/>
            </a:pPr>
            <a:r>
              <a:t>Token scoping prevents access beyond assigned permissions</a:t>
            </a:r>
          </a:p>
          <a:p>
            <a:pPr marL="228600" indent="-228600">
              <a:spcBef>
                <a:spcPts val="400"/>
              </a:spcBef>
              <a:spcAft>
                <a:spcPts val="1000"/>
              </a:spcAft>
              <a:defRPr sz="1400">
                <a:solidFill>
                  <a:srgbClr val="000000"/>
                </a:solidFill>
                <a:latin typeface="Segoe UI Semibold"/>
              </a:defRPr>
              <a:buFont typeface="Arial"/>
              <a:buChar char="•"/>
            </a:pPr>
            <a:r>
              <a:t>Least-privilege verified: agent cannot access resources outside its scope</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No Parallel Identity Store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live in the same Entra ID directory as your employees</a:t>
            </a:r>
          </a:p>
          <a:p>
            <a:pPr marL="228600" indent="-228600">
              <a:spcBef>
                <a:spcPts val="400"/>
              </a:spcBef>
              <a:spcAft>
                <a:spcPts val="1000"/>
              </a:spcAft>
              <a:defRPr sz="1400">
                <a:solidFill>
                  <a:srgbClr val="000000"/>
                </a:solidFill>
                <a:latin typeface="Segoe UI Semibold"/>
              </a:defRPr>
              <a:buFont typeface="Arial"/>
              <a:buChar char="•"/>
            </a:pPr>
            <a:r>
              <a:t>Same conditional access engine — no separate policy framework to maintain</a:t>
            </a:r>
          </a:p>
          <a:p>
            <a:pPr marL="228600" indent="-228600">
              <a:spcBef>
                <a:spcPts val="400"/>
              </a:spcBef>
              <a:spcAft>
                <a:spcPts val="1000"/>
              </a:spcAft>
              <a:defRPr sz="1400">
                <a:solidFill>
                  <a:srgbClr val="000000"/>
                </a:solidFill>
                <a:latin typeface="Segoe UI Semibold"/>
              </a:defRPr>
              <a:buFont typeface="Arial"/>
              <a:buChar char="•"/>
            </a:pPr>
            <a:r>
              <a:t>Sign-in logs are unified — human and agent activity in one view</a:t>
            </a:r>
          </a:p>
          <a:p>
            <a:pPr marL="228600" indent="-228600">
              <a:spcBef>
                <a:spcPts val="400"/>
              </a:spcBef>
              <a:spcAft>
                <a:spcPts val="1000"/>
              </a:spcAft>
              <a:defRPr sz="1400">
                <a:solidFill>
                  <a:srgbClr val="000000"/>
                </a:solidFill>
                <a:latin typeface="Segoe UI Semibold"/>
              </a:defRPr>
              <a:buFont typeface="Arial"/>
              <a:buChar char="•"/>
            </a:pPr>
            <a:r>
              <a:t>No third-party identity broker or agent-specific IAM tool required</a:t>
            </a:r>
          </a:p>
          <a:p>
            <a:pPr marL="228600" indent="-228600">
              <a:spcBef>
                <a:spcPts val="400"/>
              </a:spcBef>
              <a:spcAft>
                <a:spcPts val="1000"/>
              </a:spcAft>
              <a:defRPr sz="1400">
                <a:solidFill>
                  <a:srgbClr val="000000"/>
                </a:solidFill>
                <a:latin typeface="Segoe UI Semibold"/>
              </a:defRPr>
              <a:buFont typeface="Arial"/>
              <a:buChar char="•"/>
            </a:pPr>
            <a:r>
              <a:t>Your identity team already knows how to operate this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3</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3</a:t>
            </a:r>
          </a:p>
          <a:p>
            <a:pPr algn="l">
              <a:spcBef>
                <a:spcPts val="800"/>
              </a:spcBef>
              <a:defRPr sz="2200">
                <a:solidFill>
                  <a:srgbClr val="50E6FF"/>
                </a:solidFill>
                <a:latin typeface="Segoe UI"/>
              </a:defRPr>
            </a:pPr>
            <a:r>
              <a:t>Sensitive Data Protection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Your DLP Policies Protect Users — Do They Protect Against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AI agents process, summarize, and move sensitive data at scale</a:t>
            </a:r>
          </a:p>
          <a:p>
            <a:pPr marL="228600" indent="-228600">
              <a:spcBef>
                <a:spcPts val="400"/>
              </a:spcBef>
              <a:spcAft>
                <a:spcPts val="1000"/>
              </a:spcAft>
              <a:defRPr sz="1400">
                <a:solidFill>
                  <a:srgbClr val="000000"/>
                </a:solidFill>
                <a:latin typeface="Segoe UI Semibold"/>
              </a:defRPr>
              <a:buFont typeface="Arial"/>
              <a:buChar char="•"/>
            </a:pPr>
            <a:r>
              <a:t>Without DLP enforcement, agents can exfiltrate data faster than any insider</a:t>
            </a:r>
          </a:p>
          <a:p>
            <a:pPr marL="228600" indent="-228600">
              <a:spcBef>
                <a:spcPts val="400"/>
              </a:spcBef>
              <a:spcAft>
                <a:spcPts val="1000"/>
              </a:spcAft>
              <a:defRPr sz="1400">
                <a:solidFill>
                  <a:srgbClr val="000000"/>
                </a:solidFill>
                <a:latin typeface="Segoe UI Semibold"/>
              </a:defRPr>
              <a:buFont typeface="Arial"/>
              <a:buChar char="•"/>
            </a:pPr>
            <a:r>
              <a:t>Agent 365 extends Purview DLP and sensitivity labels to agent activities</a:t>
            </a:r>
          </a:p>
          <a:p>
            <a:pPr marL="228600" indent="-228600">
              <a:spcBef>
                <a:spcPts val="400"/>
              </a:spcBef>
              <a:spcAft>
                <a:spcPts val="1000"/>
              </a:spcAft>
              <a:defRPr sz="1400">
                <a:solidFill>
                  <a:srgbClr val="000000"/>
                </a:solidFill>
                <a:latin typeface="Segoe UI Semibold"/>
              </a:defRPr>
              <a:buFont typeface="Arial"/>
              <a:buChar char="•"/>
            </a:pPr>
            <a:r>
              <a:t>Same policies, same audit trail, same eDiscovery — now covering agents too</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Purview DLP and Sensitivity Labels with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Configure a DLP policy that applies to agent activities</a:t>
            </a:r>
          </a:p>
          <a:p>
            <a:pPr marL="228600" indent="-228600">
              <a:spcBef>
                <a:spcPts val="400"/>
              </a:spcBef>
              <a:spcAft>
                <a:spcPts val="1000"/>
              </a:spcAft>
              <a:defRPr sz="1400">
                <a:solidFill>
                  <a:srgbClr val="000000"/>
                </a:solidFill>
                <a:latin typeface="Segoe UI Semibold"/>
              </a:defRPr>
              <a:buFont typeface="Arial"/>
              <a:buChar char="•"/>
            </a:pPr>
            <a:r>
              <a:t>Trigger an agent to process a sensitivity-labeled document</a:t>
            </a:r>
          </a:p>
          <a:p>
            <a:pPr marL="228600" indent="-228600">
              <a:spcBef>
                <a:spcPts val="400"/>
              </a:spcBef>
              <a:spcAft>
                <a:spcPts val="1000"/>
              </a:spcAft>
              <a:defRPr sz="1400">
                <a:solidFill>
                  <a:srgbClr val="000000"/>
                </a:solidFill>
                <a:latin typeface="Segoe UI Semibold"/>
              </a:defRPr>
              <a:buFont typeface="Arial"/>
              <a:buChar char="•"/>
            </a:pPr>
            <a:r>
              <a:t>Observe DLP enforcement: agent action blocked or flagged</a:t>
            </a:r>
          </a:p>
          <a:p>
            <a:pPr marL="228600" indent="-228600">
              <a:spcBef>
                <a:spcPts val="400"/>
              </a:spcBef>
              <a:spcAft>
                <a:spcPts val="1000"/>
              </a:spcAft>
              <a:defRPr sz="1400">
                <a:solidFill>
                  <a:srgbClr val="000000"/>
                </a:solidFill>
                <a:latin typeface="Segoe UI Semibold"/>
              </a:defRPr>
              <a:buFont typeface="Arial"/>
              <a:buChar char="•"/>
            </a:pPr>
            <a:r>
              <a:t>Review the audit log entry showing the policy match</a:t>
            </a:r>
          </a:p>
          <a:p>
            <a:pPr marL="228600" indent="-228600">
              <a:spcBef>
                <a:spcPts val="400"/>
              </a:spcBef>
              <a:spcAft>
                <a:spcPts val="1000"/>
              </a:spcAft>
              <a:defRPr sz="1400">
                <a:solidFill>
                  <a:srgbClr val="000000"/>
                </a:solidFill>
                <a:latin typeface="Segoe UI Semibold"/>
              </a:defRPr>
              <a:buFont typeface="Arial"/>
              <a:buChar char="•"/>
            </a:pPr>
            <a:r>
              <a:t>Show insider risk signal generated by agent data handling pattern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Data Protection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DLP policy correctly blocks agent from violating data handling rules</a:t>
            </a:r>
          </a:p>
          <a:p>
            <a:pPr marL="228600" indent="-228600">
              <a:spcBef>
                <a:spcPts val="400"/>
              </a:spcBef>
              <a:spcAft>
                <a:spcPts val="1000"/>
              </a:spcAft>
              <a:defRPr sz="1400">
                <a:solidFill>
                  <a:srgbClr val="000000"/>
                </a:solidFill>
                <a:latin typeface="Segoe UI Semibold"/>
              </a:defRPr>
              <a:buFont typeface="Arial"/>
              <a:buChar char="•"/>
            </a:pPr>
            <a:r>
              <a:t>Sensitivity labels are respected by agents — labeled content is not downgraded or stripped</a:t>
            </a:r>
          </a:p>
          <a:p>
            <a:pPr marL="228600" indent="-228600">
              <a:spcBef>
                <a:spcPts val="400"/>
              </a:spcBef>
              <a:spcAft>
                <a:spcPts val="1000"/>
              </a:spcAft>
              <a:defRPr sz="1400">
                <a:solidFill>
                  <a:srgbClr val="000000"/>
                </a:solidFill>
                <a:latin typeface="Segoe UI Semibold"/>
              </a:defRPr>
              <a:buFont typeface="Arial"/>
              <a:buChar char="•"/>
            </a:pPr>
            <a:r>
              <a:t>Audit log captures every agent interaction with sensitive content</a:t>
            </a:r>
          </a:p>
          <a:p>
            <a:pPr marL="228600" indent="-228600">
              <a:spcBef>
                <a:spcPts val="400"/>
              </a:spcBef>
              <a:spcAft>
                <a:spcPts val="1000"/>
              </a:spcAft>
              <a:defRPr sz="1400">
                <a:solidFill>
                  <a:srgbClr val="000000"/>
                </a:solidFill>
                <a:latin typeface="Segoe UI Semibold"/>
              </a:defRPr>
              <a:buFont typeface="Arial"/>
              <a:buChar char="•"/>
            </a:pPr>
            <a:r>
              <a:t>Insider risk signal fires when agent exhibits anomalous data access pattern</a:t>
            </a:r>
          </a:p>
          <a:p>
            <a:pPr marL="228600" indent="-228600">
              <a:spcBef>
                <a:spcPts val="400"/>
              </a:spcBef>
              <a:spcAft>
                <a:spcPts val="1000"/>
              </a:spcAft>
              <a:defRPr sz="1400">
                <a:solidFill>
                  <a:srgbClr val="000000"/>
                </a:solidFill>
                <a:latin typeface="Segoe UI Semibold"/>
              </a:defRPr>
              <a:buFont typeface="Arial"/>
              <a:buChar char="•"/>
            </a:pPr>
            <a:r>
              <a:t>eDiscovery can surface agent-touched content using same search tools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One Policy Set for Users and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Same Purview DLP rules apply to both human users and AI agents</a:t>
            </a:r>
          </a:p>
          <a:p>
            <a:pPr marL="228600" indent="-228600">
              <a:spcBef>
                <a:spcPts val="400"/>
              </a:spcBef>
              <a:spcAft>
                <a:spcPts val="1000"/>
              </a:spcAft>
              <a:defRPr sz="1400">
                <a:solidFill>
                  <a:srgbClr val="000000"/>
                </a:solidFill>
                <a:latin typeface="Segoe UI Semibold"/>
              </a:defRPr>
              <a:buFont typeface="Arial"/>
              <a:buChar char="•"/>
            </a:pPr>
            <a:r>
              <a:t>Sensitivity labels travel with content regardless of who touches it</a:t>
            </a:r>
          </a:p>
          <a:p>
            <a:pPr marL="228600" indent="-228600">
              <a:spcBef>
                <a:spcPts val="400"/>
              </a:spcBef>
              <a:spcAft>
                <a:spcPts val="1000"/>
              </a:spcAft>
              <a:defRPr sz="1400">
                <a:solidFill>
                  <a:srgbClr val="000000"/>
                </a:solidFill>
                <a:latin typeface="Segoe UI Semibold"/>
              </a:defRPr>
              <a:buFont typeface="Arial"/>
              <a:buChar char="•"/>
            </a:pPr>
            <a:r>
              <a:t>eDiscovery searches naturally include agent activity — no separate export</a:t>
            </a:r>
          </a:p>
          <a:p>
            <a:pPr marL="228600" indent="-228600">
              <a:spcBef>
                <a:spcPts val="400"/>
              </a:spcBef>
              <a:spcAft>
                <a:spcPts val="1000"/>
              </a:spcAft>
              <a:defRPr sz="1400">
                <a:solidFill>
                  <a:srgbClr val="000000"/>
                </a:solidFill>
                <a:latin typeface="Segoe UI Semibold"/>
              </a:defRPr>
              <a:buFont typeface="Arial"/>
              <a:buChar char="•"/>
            </a:pPr>
            <a:r>
              <a:t>Competing solutions require duplicate policy sets with manual reconciliation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4</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4</a:t>
            </a:r>
          </a:p>
          <a:p>
            <a:pPr algn="l">
              <a:spcBef>
                <a:spcPts val="800"/>
              </a:spcBef>
              <a:defRPr sz="2200">
                <a:solidFill>
                  <a:srgbClr val="50E6FF"/>
                </a:solidFill>
                <a:latin typeface="Segoe UI"/>
              </a:defRPr>
            </a:pPr>
            <a:r>
              <a:t>Threat Detection and Response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Your SOC Monitors Users and Endpoints — Who's Monitoring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Compromised agents can be weaponized for lateral movement, data theft, or privilege escalation</a:t>
            </a:r>
          </a:p>
          <a:p>
            <a:pPr marL="228600" indent="-228600">
              <a:spcBef>
                <a:spcPts val="400"/>
              </a:spcBef>
              <a:spcAft>
                <a:spcPts val="1000"/>
              </a:spcAft>
              <a:defRPr sz="1400">
                <a:solidFill>
                  <a:srgbClr val="000000"/>
                </a:solidFill>
                <a:latin typeface="Segoe UI Semibold"/>
              </a:defRPr>
              <a:buFont typeface="Arial"/>
              <a:buChar char="•"/>
            </a:pPr>
            <a:r>
              <a:t>Agent-specific attack patterns (prompt injection, token theft, scope creep) need dedicated detection</a:t>
            </a:r>
          </a:p>
          <a:p>
            <a:pPr marL="228600" indent="-228600">
              <a:spcBef>
                <a:spcPts val="400"/>
              </a:spcBef>
              <a:spcAft>
                <a:spcPts val="1000"/>
              </a:spcAft>
              <a:defRPr sz="1400">
                <a:solidFill>
                  <a:srgbClr val="000000"/>
                </a:solidFill>
                <a:latin typeface="Segoe UI Semibold"/>
              </a:defRPr>
              <a:buFont typeface="Arial"/>
              <a:buChar char="•"/>
            </a:pPr>
            <a:r>
              <a:t>Agent 365 makes agents first-class Defender XDR assets with runtime protection</a:t>
            </a:r>
          </a:p>
          <a:p>
            <a:pPr marL="228600" indent="-228600">
              <a:spcBef>
                <a:spcPts val="400"/>
              </a:spcBef>
              <a:spcAft>
                <a:spcPts val="1000"/>
              </a:spcAft>
              <a:defRPr sz="1400">
                <a:solidFill>
                  <a:srgbClr val="000000"/>
                </a:solidFill>
                <a:latin typeface="Segoe UI Semibold"/>
              </a:defRPr>
              <a:buFont typeface="Arial"/>
              <a:buChar char="•"/>
            </a:pPr>
            <a:r>
              <a:t>Same SOC console, same alert queue, same incident response playbooks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Threat Detection and Attack-Path Visualization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View agent assets in Defender XDR console</a:t>
            </a:r>
          </a:p>
          <a:p>
            <a:pPr marL="228600" indent="-228600">
              <a:spcBef>
                <a:spcPts val="400"/>
              </a:spcBef>
              <a:spcAft>
                <a:spcPts val="1000"/>
              </a:spcAft>
              <a:defRPr sz="1400">
                <a:solidFill>
                  <a:srgbClr val="000000"/>
                </a:solidFill>
                <a:latin typeface="Segoe UI Semibold"/>
              </a:defRPr>
              <a:buFont typeface="Arial"/>
              <a:buChar char="•"/>
            </a:pPr>
            <a:r>
              <a:t>Trigger a simulated anomalous agent behavior</a:t>
            </a:r>
          </a:p>
          <a:p>
            <a:pPr marL="228600" indent="-228600">
              <a:spcBef>
                <a:spcPts val="400"/>
              </a:spcBef>
              <a:spcAft>
                <a:spcPts val="1000"/>
              </a:spcAft>
              <a:defRPr sz="1400">
                <a:solidFill>
                  <a:srgbClr val="000000"/>
                </a:solidFill>
                <a:latin typeface="Segoe UI Semibold"/>
              </a:defRPr>
              <a:buFont typeface="Arial"/>
              <a:buChar char="•"/>
            </a:pPr>
            <a:r>
              <a:t>Observe alert generation in real time</a:t>
            </a:r>
          </a:p>
          <a:p>
            <a:pPr marL="228600" indent="-228600">
              <a:spcBef>
                <a:spcPts val="400"/>
              </a:spcBef>
              <a:spcAft>
                <a:spcPts val="1000"/>
              </a:spcAft>
              <a:defRPr sz="1400">
                <a:solidFill>
                  <a:srgbClr val="000000"/>
                </a:solidFill>
                <a:latin typeface="Segoe UI Semibold"/>
              </a:defRPr>
              <a:buFont typeface="Arial"/>
              <a:buChar char="•"/>
            </a:pPr>
            <a:r>
              <a:t>Walk through attack-path visualization showing potential blast radius</a:t>
            </a:r>
          </a:p>
          <a:p>
            <a:pPr marL="228600" indent="-228600">
              <a:spcBef>
                <a:spcPts val="400"/>
              </a:spcBef>
              <a:spcAft>
                <a:spcPts val="1000"/>
              </a:spcAft>
              <a:defRPr sz="1400">
                <a:solidFill>
                  <a:srgbClr val="000000"/>
                </a:solidFill>
                <a:latin typeface="Segoe UI Semibold"/>
              </a:defRPr>
              <a:buFont typeface="Arial"/>
              <a:buChar char="•"/>
            </a:pPr>
            <a:r>
              <a:t>Demonstrate SOC response: isolate agent, revoke tokens, investigate timeline</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Threat Detection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Defender generates alert within defined SLA for anomalous agent behavior</a:t>
            </a:r>
          </a:p>
          <a:p>
            <a:pPr marL="228600" indent="-228600">
              <a:spcBef>
                <a:spcPts val="400"/>
              </a:spcBef>
              <a:spcAft>
                <a:spcPts val="1000"/>
              </a:spcAft>
              <a:defRPr sz="1400">
                <a:solidFill>
                  <a:srgbClr val="000000"/>
                </a:solidFill>
                <a:latin typeface="Segoe UI Semibold"/>
              </a:defRPr>
              <a:buFont typeface="Arial"/>
              <a:buChar char="•"/>
            </a:pPr>
            <a:r>
              <a:t>Attack-path visualization accurately shows agent's potential blast radius</a:t>
            </a:r>
          </a:p>
          <a:p>
            <a:pPr marL="228600" indent="-228600">
              <a:spcBef>
                <a:spcPts val="400"/>
              </a:spcBef>
              <a:spcAft>
                <a:spcPts val="1000"/>
              </a:spcAft>
              <a:defRPr sz="1400">
                <a:solidFill>
                  <a:srgbClr val="000000"/>
                </a:solidFill>
                <a:latin typeface="Segoe UI Semibold"/>
              </a:defRPr>
              <a:buFont typeface="Arial"/>
              <a:buChar char="•"/>
            </a:pPr>
            <a:r>
              <a:t>SOC can isolate a compromised agent and revoke tokens from the same console</a:t>
            </a:r>
          </a:p>
          <a:p>
            <a:pPr marL="228600" indent="-228600">
              <a:spcBef>
                <a:spcPts val="400"/>
              </a:spcBef>
              <a:spcAft>
                <a:spcPts val="1000"/>
              </a:spcAft>
              <a:defRPr sz="1400">
                <a:solidFill>
                  <a:srgbClr val="000000"/>
                </a:solidFill>
                <a:latin typeface="Segoe UI Semibold"/>
              </a:defRPr>
              <a:buFont typeface="Arial"/>
              <a:buChar char="•"/>
            </a:pPr>
            <a:r>
              <a:t>Runtime protection prevents agent from executing blocked actions</a:t>
            </a:r>
          </a:p>
          <a:p>
            <a:pPr marL="228600" indent="-228600">
              <a:spcBef>
                <a:spcPts val="400"/>
              </a:spcBef>
              <a:spcAft>
                <a:spcPts val="1000"/>
              </a:spcAft>
              <a:defRPr sz="1400">
                <a:solidFill>
                  <a:srgbClr val="000000"/>
                </a:solidFill>
                <a:latin typeface="Segoe UI Semibold"/>
              </a:defRPr>
              <a:buFont typeface="Arial"/>
              <a:buChar char="•"/>
            </a:pPr>
            <a:r>
              <a:t>Incident timeline includes full agent activity history for forensics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One Console, One Incident Queue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appear alongside users, devices, and apps in Defender XDR</a:t>
            </a:r>
          </a:p>
          <a:p>
            <a:pPr marL="228600" indent="-228600">
              <a:spcBef>
                <a:spcPts val="400"/>
              </a:spcBef>
              <a:spcAft>
                <a:spcPts val="1000"/>
              </a:spcAft>
              <a:defRPr sz="1400">
                <a:solidFill>
                  <a:srgbClr val="000000"/>
                </a:solidFill>
                <a:latin typeface="Segoe UI Semibold"/>
              </a:defRPr>
              <a:buFont typeface="Arial"/>
              <a:buChar char="•"/>
            </a:pPr>
            <a:r>
              <a:t>No separate SIEM integration or custom detection rules needed</a:t>
            </a:r>
          </a:p>
          <a:p>
            <a:pPr marL="228600" indent="-228600">
              <a:spcBef>
                <a:spcPts val="400"/>
              </a:spcBef>
              <a:spcAft>
                <a:spcPts val="1000"/>
              </a:spcAft>
              <a:defRPr sz="1400">
                <a:solidFill>
                  <a:srgbClr val="000000"/>
                </a:solidFill>
                <a:latin typeface="Segoe UI Semibold"/>
              </a:defRPr>
              <a:buFont typeface="Arial"/>
              <a:buChar char="•"/>
            </a:pPr>
            <a:r>
              <a:t>Attack-path analysis natively understands agent permissions and access patterns</a:t>
            </a:r>
          </a:p>
          <a:p>
            <a:pPr marL="228600" indent="-228600">
              <a:spcBef>
                <a:spcPts val="400"/>
              </a:spcBef>
              <a:spcAft>
                <a:spcPts val="1000"/>
              </a:spcAft>
              <a:defRPr sz="1400">
                <a:solidFill>
                  <a:srgbClr val="000000"/>
                </a:solidFill>
                <a:latin typeface="Segoe UI Semibold"/>
              </a:defRPr>
              <a:buFont typeface="Arial"/>
              <a:buChar char="•"/>
            </a:pPr>
            <a:r>
              <a:t>SOC response actions (isolate, revoke, block) work identically for agents</a:t>
            </a:r>
          </a:p>
          <a:p>
            <a:pPr marL="228600" indent="-228600">
              <a:spcBef>
                <a:spcPts val="400"/>
              </a:spcBef>
              <a:spcAft>
                <a:spcPts val="1000"/>
              </a:spcAft>
              <a:defRPr sz="1400">
                <a:solidFill>
                  <a:srgbClr val="000000"/>
                </a:solidFill>
                <a:latin typeface="Segoe UI Semibold"/>
              </a:defRPr>
              <a:buFont typeface="Arial"/>
              <a:buChar char="•"/>
            </a:pPr>
            <a:r>
              <a:t>Competing solutions require separate agent monitoring tools with manual SIEM forwarding</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Advanced Hunting: AIAgentsInfo Table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Defender XDR advanced hunting includes the AIAgentsInfo table — populated via Agent 365 connectors</a:t>
            </a:r>
          </a:p>
          <a:p>
            <a:pPr marL="228600" indent="-228600">
              <a:spcBef>
                <a:spcPts val="400"/>
              </a:spcBef>
              <a:spcAft>
                <a:spcPts val="1000"/>
              </a:spcAft>
              <a:defRPr sz="1400">
                <a:solidFill>
                  <a:srgbClr val="000000"/>
                </a:solidFill>
                <a:latin typeface="Segoe UI Semibold"/>
              </a:defRPr>
              <a:buFont typeface="Arial"/>
              <a:buChar char="•"/>
            </a:pPr>
            <a:r>
              <a:t>Filter with RegistrySource == "A365" for Agent 365 data</a:t>
            </a:r>
          </a:p>
          <a:p>
            <a:pPr marL="228600" indent="-228600">
              <a:spcBef>
                <a:spcPts val="400"/>
              </a:spcBef>
              <a:spcAft>
                <a:spcPts val="1000"/>
              </a:spcAft>
              <a:defRPr sz="1400">
                <a:solidFill>
                  <a:srgbClr val="000000"/>
                </a:solidFill>
                <a:latin typeface="Segoe UI Semibold"/>
              </a:defRPr>
              <a:buFont typeface="Arial"/>
              <a:buChar char="•"/>
            </a:pPr>
            <a:r>
              <a:t>Key columns: AIAgentId, AIAgentName, AgentStatus, Instructions, AgentActionTriggers, IsBlocked</a:t>
            </a:r>
          </a:p>
          <a:p>
            <a:pPr marL="228600" indent="-228600">
              <a:spcBef>
                <a:spcPts val="400"/>
              </a:spcBef>
              <a:spcAft>
                <a:spcPts val="1000"/>
              </a:spcAft>
              <a:defRPr sz="1400">
                <a:solidFill>
                  <a:srgbClr val="000000"/>
                </a:solidFill>
                <a:latin typeface="Segoe UI Semibold"/>
              </a:defRPr>
              <a:buFont typeface="Arial"/>
              <a:buChar char="•"/>
            </a:pPr>
            <a:r>
              <a:t>Enables proactive threat hunting directly from the SOC console</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Hunting Queries: Agent Inventory and Security Risks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Query 1 — List All Agents: Full inventory with owner/creator UPNs from the SOC console</a:t>
            </a:r>
          </a:p>
          <a:p>
            <a:pPr marL="228600" indent="-228600">
              <a:spcBef>
                <a:spcPts val="400"/>
              </a:spcBef>
              <a:spcAft>
                <a:spcPts val="1000"/>
              </a:spcAft>
              <a:defRPr sz="1400">
                <a:solidFill>
                  <a:srgbClr val="000000"/>
                </a:solidFill>
                <a:latin typeface="Segoe UI Semibold"/>
              </a:defRPr>
              <a:buFont typeface="Arial"/>
              <a:buChar char="•"/>
            </a:pPr>
            <a:r>
              <a:t>Query 2 — Agents Without Instructions: Published agents missing system prompts are vulnerable to prompt injection</a:t>
            </a:r>
          </a:p>
          <a:p>
            <a:pPr marL="228600" indent="-228600">
              <a:spcBef>
                <a:spcPts val="400"/>
              </a:spcBef>
              <a:spcAft>
                <a:spcPts val="1000"/>
              </a:spcAft>
              <a:defRPr sz="1400">
                <a:solidFill>
                  <a:srgbClr val="000000"/>
                </a:solidFill>
                <a:latin typeface="Segoe UI Semibold"/>
              </a:defRPr>
              <a:buFont typeface="Arial"/>
              <a:buChar char="•"/>
            </a:pPr>
            <a:r>
              <a:t>Query 3 — MCP Tools Configured: Agents with remote MCP servers extend capabilities but increase attack surface</a:t>
            </a:r>
          </a:p>
          <a:p>
            <a:pPr marL="228600" indent="-228600">
              <a:spcBef>
                <a:spcPts val="400"/>
              </a:spcBef>
              <a:spcAft>
                <a:spcPts val="1000"/>
              </a:spcAft>
              <a:defRPr sz="1400">
                <a:solidFill>
                  <a:srgbClr val="000000"/>
                </a:solidFill>
                <a:latin typeface="Segoe UI Semibold"/>
              </a:defRPr>
              <a:buFont typeface="Arial"/>
              <a:buChar char="•"/>
            </a:pPr>
            <a:r>
              <a:t>Query 4 — Non-HTTPS Endpoints: Agents communicating over unencrypted HTTP expose data in transit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5</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5</a:t>
            </a:r>
          </a:p>
          <a:p>
            <a:pPr algn="l">
              <a:spcBef>
                <a:spcPts val="800"/>
              </a:spcBef>
              <a:defRPr sz="2200">
                <a:solidFill>
                  <a:srgbClr val="50E6FF"/>
                </a:solidFill>
                <a:latin typeface="Segoe UI"/>
              </a:defRPr>
            </a:pPr>
            <a:r>
              <a:t>Audit, Compliance, and Lifecycle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When Auditors Come Knocking, Can You Show the Agent Evidence Chain?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Regulatory frameworks increasingly expect governance over autonomous AI systems</a:t>
            </a:r>
          </a:p>
          <a:p>
            <a:pPr marL="228600" indent="-228600">
              <a:spcBef>
                <a:spcPts val="400"/>
              </a:spcBef>
              <a:spcAft>
                <a:spcPts val="1000"/>
              </a:spcAft>
              <a:defRPr sz="1400">
                <a:solidFill>
                  <a:srgbClr val="000000"/>
                </a:solidFill>
                <a:latin typeface="Segoe UI Semibold"/>
              </a:defRPr>
              <a:buFont typeface="Arial"/>
              <a:buChar char="•"/>
            </a:pPr>
            <a:r>
              <a:t>Auditors need a complete trail: who deployed it, what it accessed, when it was deactivated</a:t>
            </a:r>
          </a:p>
          <a:p>
            <a:pPr marL="228600" indent="-228600">
              <a:spcBef>
                <a:spcPts val="400"/>
              </a:spcBef>
              <a:spcAft>
                <a:spcPts val="1000"/>
              </a:spcAft>
              <a:defRPr sz="1400">
                <a:solidFill>
                  <a:srgbClr val="000000"/>
                </a:solidFill>
                <a:latin typeface="Segoe UI Semibold"/>
              </a:defRPr>
              <a:buFont typeface="Arial"/>
              <a:buChar char="•"/>
            </a:pPr>
            <a:r>
              <a:t>Agent 365 provides full lifecycle audit through M365 compliance fabric</a:t>
            </a:r>
          </a:p>
          <a:p>
            <a:pPr marL="228600" indent="-228600">
              <a:spcBef>
                <a:spcPts val="400"/>
              </a:spcBef>
              <a:spcAft>
                <a:spcPts val="1000"/>
              </a:spcAft>
              <a:defRPr sz="1400">
                <a:solidFill>
                  <a:srgbClr val="000000"/>
                </a:solidFill>
                <a:latin typeface="Segoe UI Semibold"/>
              </a:defRPr>
              <a:buFont typeface="Arial"/>
              <a:buChar char="•"/>
            </a:pPr>
            <a:r>
              <a:t>Same evidence format auditors already accept for user activities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Full Audit Trail and Lifecycle Management</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Review complete audit trail for an agent (deployment through operation)</a:t>
            </a:r>
          </a:p>
          <a:p>
            <a:pPr marL="228600" indent="-228600">
              <a:spcBef>
                <a:spcPts val="400"/>
              </a:spcBef>
              <a:spcAft>
                <a:spcPts val="1000"/>
              </a:spcAft>
              <a:defRPr sz="1400">
                <a:solidFill>
                  <a:srgbClr val="000000"/>
                </a:solidFill>
                <a:latin typeface="Segoe UI Semibold"/>
              </a:defRPr>
              <a:buFont typeface="Arial"/>
              <a:buChar char="•"/>
            </a:pPr>
            <a:r>
              <a:t>Execute lifecycle drill: block agent, deactivate agent, delete agent</a:t>
            </a:r>
          </a:p>
          <a:p>
            <a:pPr marL="228600" indent="-228600">
              <a:spcBef>
                <a:spcPts val="400"/>
              </a:spcBef>
              <a:spcAft>
                <a:spcPts val="1000"/>
              </a:spcAft>
              <a:defRPr sz="1400">
                <a:solidFill>
                  <a:srgbClr val="000000"/>
                </a:solidFill>
                <a:latin typeface="Segoe UI Semibold"/>
              </a:defRPr>
              <a:buFont typeface="Arial"/>
              <a:buChar char="•"/>
            </a:pPr>
            <a:r>
              <a:t>Verify each lifecycle action generates audit entry with timestamp and actor</a:t>
            </a:r>
          </a:p>
          <a:p>
            <a:pPr marL="228600" indent="-228600">
              <a:spcBef>
                <a:spcPts val="400"/>
              </a:spcBef>
              <a:spcAft>
                <a:spcPts val="1000"/>
              </a:spcAft>
              <a:defRPr sz="1400">
                <a:solidFill>
                  <a:srgbClr val="000000"/>
                </a:solidFill>
                <a:latin typeface="Segoe UI Semibold"/>
              </a:defRPr>
              <a:buFont typeface="Arial"/>
              <a:buChar char="•"/>
            </a:pPr>
            <a:r>
              <a:t>Show data retention policy applying to agent audit records</a:t>
            </a:r>
          </a:p>
          <a:p>
            <a:pPr marL="228600" indent="-228600">
              <a:spcBef>
                <a:spcPts val="400"/>
              </a:spcBef>
              <a:spcAft>
                <a:spcPts val="1000"/>
              </a:spcAft>
              <a:defRPr sz="1400">
                <a:solidFill>
                  <a:srgbClr val="000000"/>
                </a:solidFill>
                <a:latin typeface="Segoe UI Semibold"/>
              </a:defRPr>
              <a:buFont typeface="Arial"/>
              <a:buChar char="•"/>
            </a:pPr>
            <a:r>
              <a:t>Demonstrate compliance report including agent activities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Audit and Compliance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Complete audit trail exists from agent deployment through deletion</a:t>
            </a:r>
          </a:p>
          <a:p>
            <a:pPr marL="228600" indent="-228600">
              <a:spcBef>
                <a:spcPts val="400"/>
              </a:spcBef>
              <a:spcAft>
                <a:spcPts val="1000"/>
              </a:spcAft>
              <a:defRPr sz="1400">
                <a:solidFill>
                  <a:srgbClr val="000000"/>
                </a:solidFill>
                <a:latin typeface="Segoe UI Semibold"/>
              </a:defRPr>
              <a:buFont typeface="Arial"/>
              <a:buChar char="•"/>
            </a:pPr>
            <a:r>
              <a:t>Each lifecycle state change generates a timestamped audit entry</a:t>
            </a:r>
          </a:p>
          <a:p>
            <a:pPr marL="228600" indent="-228600">
              <a:spcBef>
                <a:spcPts val="400"/>
              </a:spcBef>
              <a:spcAft>
                <a:spcPts val="1000"/>
              </a:spcAft>
              <a:defRPr sz="1400">
                <a:solidFill>
                  <a:srgbClr val="000000"/>
                </a:solidFill>
                <a:latin typeface="Segoe UI Semibold"/>
              </a:defRPr>
              <a:buFont typeface="Arial"/>
              <a:buChar char="•"/>
            </a:pPr>
            <a:r>
              <a:t>Data retention policies correctly apply to agent audit records</a:t>
            </a:r>
          </a:p>
          <a:p>
            <a:pPr marL="228600" indent="-228600">
              <a:spcBef>
                <a:spcPts val="400"/>
              </a:spcBef>
              <a:spcAft>
                <a:spcPts val="1000"/>
              </a:spcAft>
              <a:defRPr sz="1400">
                <a:solidFill>
                  <a:srgbClr val="000000"/>
                </a:solidFill>
                <a:latin typeface="Segoe UI Semibold"/>
              </a:defRPr>
              <a:buFont typeface="Arial"/>
              <a:buChar char="•"/>
            </a:pPr>
            <a:r>
              <a:t>Compliance report export includes agent activities in accepted format</a:t>
            </a:r>
          </a:p>
          <a:p>
            <a:pPr marL="228600" indent="-228600">
              <a:spcBef>
                <a:spcPts val="400"/>
              </a:spcBef>
              <a:spcAft>
                <a:spcPts val="1000"/>
              </a:spcAft>
              <a:defRPr sz="1400">
                <a:solidFill>
                  <a:srgbClr val="000000"/>
                </a:solidFill>
                <a:latin typeface="Segoe UI Semibold"/>
              </a:defRPr>
              <a:buFont typeface="Arial"/>
              <a:buChar char="•"/>
            </a:pPr>
            <a:r>
              <a:t>No gaps in evidence chain — auditor can reconstruct full agent history</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No Parallel Evidence Chain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 audit data feeds the same M365 compliance fabric used for users</a:t>
            </a:r>
          </a:p>
          <a:p>
            <a:pPr marL="228600" indent="-228600">
              <a:spcBef>
                <a:spcPts val="400"/>
              </a:spcBef>
              <a:spcAft>
                <a:spcPts val="1000"/>
              </a:spcAft>
              <a:defRPr sz="1400">
                <a:solidFill>
                  <a:srgbClr val="000000"/>
                </a:solidFill>
                <a:latin typeface="Segoe UI Semibold"/>
              </a:defRPr>
              <a:buFont typeface="Arial"/>
              <a:buChar char="•"/>
            </a:pPr>
            <a:r>
              <a:t>Auditors already accept this format — no new validation required</a:t>
            </a:r>
          </a:p>
          <a:p>
            <a:pPr marL="228600" indent="-228600">
              <a:spcBef>
                <a:spcPts val="400"/>
              </a:spcBef>
              <a:spcAft>
                <a:spcPts val="1000"/>
              </a:spcAft>
              <a:defRPr sz="1400">
                <a:solidFill>
                  <a:srgbClr val="000000"/>
                </a:solidFill>
                <a:latin typeface="Segoe UI Semibold"/>
              </a:defRPr>
              <a:buFont typeface="Arial"/>
              <a:buChar char="•"/>
            </a:pPr>
            <a:r>
              <a:t>Data retention, legal hold, and eDiscovery apply uniformly</a:t>
            </a:r>
          </a:p>
          <a:p>
            <a:pPr marL="228600" indent="-228600">
              <a:spcBef>
                <a:spcPts val="400"/>
              </a:spcBef>
              <a:spcAft>
                <a:spcPts val="1000"/>
              </a:spcAft>
              <a:defRPr sz="1400">
                <a:solidFill>
                  <a:srgbClr val="000000"/>
                </a:solidFill>
                <a:latin typeface="Segoe UI Semibold"/>
              </a:defRPr>
              <a:buFont typeface="Arial"/>
              <a:buChar char="•"/>
            </a:pPr>
            <a:r>
              <a:t>No separate compliance tool generating evidence that auditors must learn to trust</a:t>
            </a:r>
          </a:p>
          <a:p>
            <a:pPr marL="228600" indent="-228600">
              <a:spcBef>
                <a:spcPts val="400"/>
              </a:spcBef>
              <a:spcAft>
                <a:spcPts val="1000"/>
              </a:spcAft>
              <a:defRPr sz="1400">
                <a:solidFill>
                  <a:srgbClr val="000000"/>
                </a:solidFill>
                <a:latin typeface="Segoe UI Semibold"/>
              </a:defRPr>
              <a:buFont typeface="Arial"/>
              <a:buChar char="•"/>
            </a:pPr>
            <a:r>
              <a:t>Competing solutions create a second evidence chain requiring separate attestation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Under the Hood: How Agent Lifecycle Feeds Compliance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Every agent action generates a unified audit log entry (same schema as user events)</a:t>
            </a:r>
          </a:p>
          <a:p>
            <a:pPr marL="228600" indent="-228600">
              <a:spcBef>
                <a:spcPts val="400"/>
              </a:spcBef>
              <a:spcAft>
                <a:spcPts val="1000"/>
              </a:spcAft>
              <a:defRPr sz="1400">
                <a:solidFill>
                  <a:srgbClr val="000000"/>
                </a:solidFill>
                <a:latin typeface="Segoe UI Semibold"/>
              </a:defRPr>
              <a:buFont typeface="Arial"/>
              <a:buChar char="•"/>
            </a:pPr>
            <a:r>
              <a:t>Lifecycle state changes trigger compliance workflow notifications</a:t>
            </a:r>
          </a:p>
          <a:p>
            <a:pPr marL="228600" indent="-228600">
              <a:spcBef>
                <a:spcPts val="400"/>
              </a:spcBef>
              <a:spcAft>
                <a:spcPts val="1000"/>
              </a:spcAft>
              <a:defRPr sz="1400">
                <a:solidFill>
                  <a:srgbClr val="000000"/>
                </a:solidFill>
                <a:latin typeface="Segoe UI Semibold"/>
              </a:defRPr>
              <a:buFont typeface="Arial"/>
              <a:buChar char="•"/>
            </a:pPr>
            <a:r>
              <a:t>Retention labels auto-apply to agent audit records based on classification</a:t>
            </a:r>
          </a:p>
          <a:p>
            <a:pPr marL="228600" indent="-228600">
              <a:spcBef>
                <a:spcPts val="400"/>
              </a:spcBef>
              <a:spcAft>
                <a:spcPts val="1000"/>
              </a:spcAft>
              <a:defRPr sz="1400">
                <a:solidFill>
                  <a:srgbClr val="000000"/>
                </a:solidFill>
                <a:latin typeface="Segoe UI Semibold"/>
              </a:defRPr>
              <a:buFont typeface="Arial"/>
              <a:buChar char="•"/>
            </a:pPr>
            <a:r>
              <a:t>eDiscovery index includes agent-generated content and interactions</a:t>
            </a:r>
          </a:p>
          <a:p>
            <a:pPr marL="228600" indent="-228600">
              <a:spcBef>
                <a:spcPts val="400"/>
              </a:spcBef>
              <a:spcAft>
                <a:spcPts val="1000"/>
              </a:spcAft>
              <a:defRPr sz="1400">
                <a:solidFill>
                  <a:srgbClr val="000000"/>
                </a:solidFill>
                <a:latin typeface="Segoe UI Semibold"/>
              </a:defRPr>
              <a:buFont typeface="Arial"/>
              <a:buChar char="•"/>
            </a:pPr>
            <a:r>
              <a:t>Export APIs produce audit packages in standard regulatory formats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6</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6</a:t>
            </a:r>
          </a:p>
          <a:p>
            <a:pPr algn="l">
              <a:spcBef>
                <a:spcPts val="800"/>
              </a:spcBef>
              <a:defRPr sz="2200">
                <a:solidFill>
                  <a:srgbClr val="50E6FF"/>
                </a:solidFill>
                <a:latin typeface="Segoe UI"/>
              </a:defRPr>
            </a:pPr>
            <a:r>
              <a:t>Productivity Integration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Agents in Outlook, Teams, Word, and SharePoint — Governed or Ungoverned?</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AI agents increasingly operate within productivity tools — drafting emails, posting in Teams, editing documents</a:t>
            </a:r>
          </a:p>
          <a:p>
            <a:pPr marL="228600" indent="-228600">
              <a:spcBef>
                <a:spcPts val="400"/>
              </a:spcBef>
              <a:spcAft>
                <a:spcPts val="1000"/>
              </a:spcAft>
              <a:defRPr sz="1400">
                <a:solidFill>
                  <a:srgbClr val="000000"/>
                </a:solidFill>
                <a:latin typeface="Segoe UI Semibold"/>
              </a:defRPr>
              <a:buFont typeface="Arial"/>
              <a:buChar char="•"/>
            </a:pPr>
            <a:r>
              <a:t>Without governance, these agents act with unbounded access across your collaboration surface</a:t>
            </a:r>
          </a:p>
          <a:p>
            <a:pPr marL="228600" indent="-228600">
              <a:spcBef>
                <a:spcPts val="400"/>
              </a:spcBef>
              <a:spcAft>
                <a:spcPts val="1000"/>
              </a:spcAft>
              <a:defRPr sz="1400">
                <a:solidFill>
                  <a:srgbClr val="000000"/>
                </a:solidFill>
                <a:latin typeface="Segoe UI Semibold"/>
              </a:defRPr>
              <a:buFont typeface="Arial"/>
              <a:buChar char="•"/>
            </a:pPr>
            <a:r>
              <a:t>Agent 365 enables governed connections with real-time allow/block enforcement</a:t>
            </a:r>
          </a:p>
          <a:p>
            <a:pPr marL="228600" indent="-228600">
              <a:spcBef>
                <a:spcPts val="400"/>
              </a:spcBef>
              <a:spcAft>
                <a:spcPts val="1000"/>
              </a:spcAft>
              <a:defRPr sz="1400">
                <a:solidFill>
                  <a:srgbClr val="000000"/>
                </a:solidFill>
                <a:latin typeface="Segoe UI Semibold"/>
              </a:defRPr>
              <a:buFont typeface="Arial"/>
              <a:buChar char="•"/>
            </a:pPr>
            <a:r>
              <a:t>Same productivity surface users know — no separate agent UI or plug-in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Governed Agent Actions in M365 Apps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Deploy a test agent with connections to Teams and SharePoint</a:t>
            </a:r>
          </a:p>
          <a:p>
            <a:pPr marL="228600" indent="-228600">
              <a:spcBef>
                <a:spcPts val="400"/>
              </a:spcBef>
              <a:spcAft>
                <a:spcPts val="1000"/>
              </a:spcAft>
              <a:defRPr sz="1400">
                <a:solidFill>
                  <a:srgbClr val="000000"/>
                </a:solidFill>
                <a:latin typeface="Segoe UI Semibold"/>
              </a:defRPr>
              <a:buFont typeface="Arial"/>
              <a:buChar char="•"/>
            </a:pPr>
            <a:r>
              <a:t>Configure allow/block policies for specific agent actions</a:t>
            </a:r>
          </a:p>
          <a:p>
            <a:pPr marL="228600" indent="-228600">
              <a:spcBef>
                <a:spcPts val="400"/>
              </a:spcBef>
              <a:spcAft>
                <a:spcPts val="1000"/>
              </a:spcAft>
              <a:defRPr sz="1400">
                <a:solidFill>
                  <a:srgbClr val="000000"/>
                </a:solidFill>
                <a:latin typeface="Segoe UI Semibold"/>
              </a:defRPr>
              <a:buFont typeface="Arial"/>
              <a:buChar char="•"/>
            </a:pPr>
            <a:r>
              <a:t>Trigger an allowed action — agent posts summary to a Teams channel</a:t>
            </a:r>
          </a:p>
          <a:p>
            <a:pPr marL="228600" indent="-228600">
              <a:spcBef>
                <a:spcPts val="400"/>
              </a:spcBef>
              <a:spcAft>
                <a:spcPts val="1000"/>
              </a:spcAft>
              <a:defRPr sz="1400">
                <a:solidFill>
                  <a:srgbClr val="000000"/>
                </a:solidFill>
                <a:latin typeface="Segoe UI Semibold"/>
              </a:defRPr>
              <a:buFont typeface="Arial"/>
              <a:buChar char="•"/>
            </a:pPr>
            <a:r>
              <a:t>Trigger a blocked action — agent attempts to share externally</a:t>
            </a:r>
          </a:p>
          <a:p>
            <a:pPr marL="228600" indent="-228600">
              <a:spcBef>
                <a:spcPts val="400"/>
              </a:spcBef>
              <a:spcAft>
                <a:spcPts val="1000"/>
              </a:spcAft>
              <a:defRPr sz="1400">
                <a:solidFill>
                  <a:srgbClr val="000000"/>
                </a:solidFill>
                <a:latin typeface="Segoe UI Semibold"/>
              </a:defRPr>
              <a:buFont typeface="Arial"/>
              <a:buChar char="•"/>
            </a:pPr>
            <a:r>
              <a:t>Observe real-time enforcement and audit trail for both actions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Productivity Integration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 successfully operates within allowed boundaries in Outlook, Teams, Word, and/or SharePoint</a:t>
            </a:r>
          </a:p>
          <a:p>
            <a:pPr marL="228600" indent="-228600">
              <a:spcBef>
                <a:spcPts val="400"/>
              </a:spcBef>
              <a:spcAft>
                <a:spcPts val="1000"/>
              </a:spcAft>
              <a:defRPr sz="1400">
                <a:solidFill>
                  <a:srgbClr val="000000"/>
                </a:solidFill>
                <a:latin typeface="Segoe UI Semibold"/>
              </a:defRPr>
              <a:buFont typeface="Arial"/>
              <a:buChar char="•"/>
            </a:pPr>
            <a:r>
              <a:t>Blocked actions are denied in real time (sub-second enforcement)</a:t>
            </a:r>
          </a:p>
          <a:p>
            <a:pPr marL="228600" indent="-228600">
              <a:spcBef>
                <a:spcPts val="400"/>
              </a:spcBef>
              <a:spcAft>
                <a:spcPts val="1000"/>
              </a:spcAft>
              <a:defRPr sz="1400">
                <a:solidFill>
                  <a:srgbClr val="000000"/>
                </a:solidFill>
                <a:latin typeface="Segoe UI Semibold"/>
              </a:defRPr>
              <a:buFont typeface="Arial"/>
              <a:buChar char="•"/>
            </a:pPr>
            <a:r>
              <a:t>Allow/block policies can be changed and take effect without redeploying the agent</a:t>
            </a:r>
          </a:p>
          <a:p>
            <a:pPr marL="228600" indent="-228600">
              <a:spcBef>
                <a:spcPts val="400"/>
              </a:spcBef>
              <a:spcAft>
                <a:spcPts val="1000"/>
              </a:spcAft>
              <a:defRPr sz="1400">
                <a:solidFill>
                  <a:srgbClr val="000000"/>
                </a:solidFill>
                <a:latin typeface="Segoe UI Semibold"/>
              </a:defRPr>
              <a:buFont typeface="Arial"/>
              <a:buChar char="•"/>
            </a:pPr>
            <a:r>
              <a:t>Audit trail captures both allowed and blocked actions with full context</a:t>
            </a:r>
          </a:p>
          <a:p>
            <a:pPr marL="228600" indent="-228600">
              <a:spcBef>
                <a:spcPts val="400"/>
              </a:spcBef>
              <a:spcAft>
                <a:spcPts val="1000"/>
              </a:spcAft>
              <a:defRPr sz="1400">
                <a:solidFill>
                  <a:srgbClr val="000000"/>
                </a:solidFill>
                <a:latin typeface="Segoe UI Semibold"/>
              </a:defRPr>
              <a:buFont typeface="Arial"/>
              <a:buChar char="•"/>
            </a:pPr>
            <a:r>
              <a:t>End users experience no disruption — governance is invisible to them</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No Separate Agent UI</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operate natively within M365 apps — no separate interface for users to learn</a:t>
            </a:r>
          </a:p>
          <a:p>
            <a:pPr marL="228600" indent="-228600">
              <a:spcBef>
                <a:spcPts val="400"/>
              </a:spcBef>
              <a:spcAft>
                <a:spcPts val="1000"/>
              </a:spcAft>
              <a:defRPr sz="1400">
                <a:solidFill>
                  <a:srgbClr val="000000"/>
                </a:solidFill>
                <a:latin typeface="Segoe UI Semibold"/>
              </a:defRPr>
              <a:buFont typeface="Arial"/>
              <a:buChar char="•"/>
            </a:pPr>
            <a:r>
              <a:t>Governance is platform-level — not a per-app plug-in that can be bypassed</a:t>
            </a:r>
          </a:p>
          <a:p>
            <a:pPr marL="228600" indent="-228600">
              <a:spcBef>
                <a:spcPts val="400"/>
              </a:spcBef>
              <a:spcAft>
                <a:spcPts val="1000"/>
              </a:spcAft>
              <a:defRPr sz="1400">
                <a:solidFill>
                  <a:srgbClr val="000000"/>
                </a:solidFill>
                <a:latin typeface="Segoe UI Semibold"/>
              </a:defRPr>
              <a:buFont typeface="Arial"/>
              <a:buChar char="•"/>
            </a:pPr>
            <a:r>
              <a:t>Allow/block enforcement is real-time and centrally managed</a:t>
            </a:r>
          </a:p>
          <a:p>
            <a:pPr marL="228600" indent="-228600">
              <a:spcBef>
                <a:spcPts val="400"/>
              </a:spcBef>
              <a:spcAft>
                <a:spcPts val="1000"/>
              </a:spcAft>
              <a:defRPr sz="1400">
                <a:solidFill>
                  <a:srgbClr val="000000"/>
                </a:solidFill>
                <a:latin typeface="Segoe UI Semibold"/>
              </a:defRPr>
              <a:buFont typeface="Arial"/>
              <a:buChar char="•"/>
            </a:pPr>
            <a:r>
              <a:t>Users interact with agent output in the apps they already use daily</a:t>
            </a:r>
          </a:p>
          <a:p>
            <a:pPr marL="228600" indent="-228600">
              <a:spcBef>
                <a:spcPts val="400"/>
              </a:spcBef>
              <a:spcAft>
                <a:spcPts val="1000"/>
              </a:spcAft>
              <a:defRPr sz="1400">
                <a:solidFill>
                  <a:srgbClr val="000000"/>
                </a:solidFill>
                <a:latin typeface="Segoe UI Semibold"/>
              </a:defRPr>
              <a:buFont typeface="Arial"/>
              <a:buChar char="•"/>
            </a:pPr>
            <a:r>
              <a:t>Competing solutions require browser extensions, sidebars, or standalone agent portals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7</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Summary &amp; Next Steps</a:t>
            </a:r>
          </a:p>
          <a:p>
            <a:pPr algn="l">
              <a:spcBef>
                <a:spcPts val="800"/>
              </a:spcBef>
              <a:defRPr sz="2200">
                <a:solidFill>
                  <a:srgbClr val="50E6FF"/>
                </a:solidFill>
                <a:latin typeface="Segoe UI"/>
              </a:defRPr>
            </a:pPr>
            <a:r>
              <a:t>From Proof of Concept to Production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What We Proved: Agent Governance That Works Today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 UC1: Every agent discovered and registered — zero shadow agents</a:t>
            </a:r>
          </a:p>
          <a:p>
            <a:pPr marL="228600" indent="-228600">
              <a:spcBef>
                <a:spcPts val="400"/>
              </a:spcBef>
              <a:spcAft>
                <a:spcPts val="1000"/>
              </a:spcAft>
              <a:defRPr sz="1400">
                <a:solidFill>
                  <a:srgbClr val="000000"/>
                </a:solidFill>
                <a:latin typeface="Segoe UI Semibold"/>
              </a:defRPr>
              <a:buFont typeface="Arial"/>
              <a:buChar char="•"/>
            </a:pPr>
            <a:r>
              <a:t>✅ UC2: Dedicated identity with least-privilege — same fabric as employees</a:t>
            </a:r>
          </a:p>
          <a:p>
            <a:pPr marL="228600" indent="-228600">
              <a:spcBef>
                <a:spcPts val="400"/>
              </a:spcBef>
              <a:spcAft>
                <a:spcPts val="1000"/>
              </a:spcAft>
              <a:defRPr sz="1400">
                <a:solidFill>
                  <a:srgbClr val="000000"/>
                </a:solidFill>
                <a:latin typeface="Segoe UI Semibold"/>
              </a:defRPr>
              <a:buFont typeface="Arial"/>
              <a:buChar char="•"/>
            </a:pPr>
            <a:r>
              <a:t>✅ UC3: DLP and sensitivity labels enforced — same policies as users</a:t>
            </a:r>
          </a:p>
          <a:p>
            <a:pPr marL="228600" indent="-228600">
              <a:spcBef>
                <a:spcPts val="400"/>
              </a:spcBef>
              <a:spcAft>
                <a:spcPts val="1000"/>
              </a:spcAft>
              <a:defRPr sz="1400">
                <a:solidFill>
                  <a:srgbClr val="000000"/>
                </a:solidFill>
                <a:latin typeface="Segoe UI Semibold"/>
              </a:defRPr>
              <a:buFont typeface="Arial"/>
              <a:buChar char="•"/>
            </a:pPr>
            <a:r>
              <a:t>✅ UC4: Threat detection and response — agents as first-class Defender assets</a:t>
            </a:r>
          </a:p>
          <a:p>
            <a:pPr marL="228600" indent="-228600">
              <a:spcBef>
                <a:spcPts val="400"/>
              </a:spcBef>
              <a:spcAft>
                <a:spcPts val="1000"/>
              </a:spcAft>
              <a:defRPr sz="1400">
                <a:solidFill>
                  <a:srgbClr val="000000"/>
                </a:solidFill>
                <a:latin typeface="Segoe UI Semibold"/>
              </a:defRPr>
              <a:buFont typeface="Arial"/>
              <a:buChar char="•"/>
            </a:pPr>
            <a:r>
              <a:t>✅ UC5: Full audit trail — compliance fabric auditors already trust</a:t>
            </a:r>
          </a:p>
          <a:p>
            <a:pPr marL="228600" indent="-228600">
              <a:spcBef>
                <a:spcPts val="400"/>
              </a:spcBef>
              <a:spcAft>
                <a:spcPts val="1000"/>
              </a:spcAft>
              <a:defRPr sz="1400">
                <a:solidFill>
                  <a:srgbClr val="000000"/>
                </a:solidFill>
                <a:latin typeface="Segoe UI Semibold"/>
              </a:defRPr>
              <a:buFont typeface="Arial"/>
              <a:buChar char="•"/>
            </a:pPr>
            <a:r>
              <a:t>✅ UC6: Governed productivity integration — real-time allow/block, no plug-ins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Broader Rollout: Extending Agent Governance Across Your Organization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Expand from 3+ POC agents to full agent estate</a:t>
            </a:r>
          </a:p>
          <a:p>
            <a:pPr marL="228600" indent="-228600">
              <a:spcBef>
                <a:spcPts val="400"/>
              </a:spcBef>
              <a:spcAft>
                <a:spcPts val="1000"/>
              </a:spcAft>
              <a:defRPr sz="1400">
                <a:solidFill>
                  <a:srgbClr val="000000"/>
                </a:solidFill>
                <a:latin typeface="Segoe UI Semibold"/>
              </a:defRPr>
              <a:buFont typeface="Arial"/>
              <a:buChar char="•"/>
            </a:pPr>
            <a:r>
              <a:t>Integrate agent governance into existing change management processes</a:t>
            </a:r>
          </a:p>
          <a:p>
            <a:pPr marL="228600" indent="-228600">
              <a:spcBef>
                <a:spcPts val="400"/>
              </a:spcBef>
              <a:spcAft>
                <a:spcPts val="1000"/>
              </a:spcAft>
              <a:defRPr sz="1400">
                <a:solidFill>
                  <a:srgbClr val="000000"/>
                </a:solidFill>
                <a:latin typeface="Segoe UI Semibold"/>
              </a:defRPr>
              <a:buFont typeface="Arial"/>
              <a:buChar char="•"/>
            </a:pPr>
            <a:r>
              <a:t>Align agent lifecycle policies with your compliance calendar</a:t>
            </a:r>
          </a:p>
          <a:p>
            <a:pPr marL="228600" indent="-228600">
              <a:spcBef>
                <a:spcPts val="400"/>
              </a:spcBef>
              <a:spcAft>
                <a:spcPts val="1000"/>
              </a:spcAft>
              <a:defRPr sz="1400">
                <a:solidFill>
                  <a:srgbClr val="000000"/>
                </a:solidFill>
                <a:latin typeface="Segoe UI Semibold"/>
              </a:defRPr>
              <a:buFont typeface="Arial"/>
              <a:buChar char="•"/>
            </a:pPr>
            <a:r>
              <a:t>Enable self-service agent registration with guardrails for development teams</a:t>
            </a:r>
          </a:p>
          <a:p>
            <a:pPr marL="228600" indent="-228600">
              <a:spcBef>
                <a:spcPts val="400"/>
              </a:spcBef>
              <a:spcAft>
                <a:spcPts val="1000"/>
              </a:spcAft>
              <a:defRPr sz="1400">
                <a:solidFill>
                  <a:srgbClr val="000000"/>
                </a:solidFill>
                <a:latin typeface="Segoe UI Semibold"/>
              </a:defRPr>
              <a:buFont typeface="Arial"/>
              <a:buChar char="•"/>
            </a:pPr>
            <a:r>
              <a:t>Establish ongoing monitoring cadence with SOC team</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Let's Keep the Conversation Going</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Your Microsoft account team: [Account Team Contacts]</a:t>
            </a:r>
          </a:p>
          <a:p>
            <a:pPr marL="228600" indent="-228600">
              <a:spcBef>
                <a:spcPts val="400"/>
              </a:spcBef>
              <a:spcAft>
                <a:spcPts val="1000"/>
              </a:spcAft>
              <a:defRPr sz="1400">
                <a:solidFill>
                  <a:srgbClr val="000000"/>
                </a:solidFill>
                <a:latin typeface="Segoe UI Semibold"/>
              </a:defRPr>
              <a:buFont typeface="Arial"/>
              <a:buChar char="•"/>
            </a:pPr>
            <a:r>
              <a:t>Agent 365 documentation: [Link to docs]</a:t>
            </a:r>
          </a:p>
          <a:p>
            <a:pPr marL="228600" indent="-228600">
              <a:spcBef>
                <a:spcPts val="400"/>
              </a:spcBef>
              <a:spcAft>
                <a:spcPts val="1000"/>
              </a:spcAft>
              <a:defRPr sz="1400">
                <a:solidFill>
                  <a:srgbClr val="000000"/>
                </a:solidFill>
                <a:latin typeface="Segoe UI Semibold"/>
              </a:defRPr>
              <a:buFont typeface="Arial"/>
              <a:buChar char="•"/>
            </a:pPr>
            <a:r>
              <a:t>POC completion report: [Will be delivered at engagement close]</a:t>
            </a:r>
          </a:p>
          <a:p>
            <a:pPr marL="228600" indent="-228600">
              <a:spcBef>
                <a:spcPts val="400"/>
              </a:spcBef>
              <a:spcAft>
                <a:spcPts val="1000"/>
              </a:spcAft>
              <a:defRPr sz="1400">
                <a:solidFill>
                  <a:srgbClr val="000000"/>
                </a:solidFill>
                <a:latin typeface="Segoe UI Semibold"/>
              </a:defRPr>
              <a:buFont typeface="Arial"/>
              <a:buChar char="•"/>
            </a:pPr>
            <a:r>
              <a:t>FastTrack support for production deployment: [Link/contact]</a:t>
            </a:r>
          </a:p>
          <a:p>
            <a:pPr marL="228600" indent="-228600">
              <a:spcBef>
                <a:spcPts val="400"/>
              </a:spcBef>
              <a:spcAft>
                <a:spcPts val="1000"/>
              </a:spcAft>
              <a:defRPr sz="1400">
                <a:solidFill>
                  <a:srgbClr val="000000"/>
                </a:solidFill>
                <a:latin typeface="Segoe UI Semibold"/>
              </a:defRPr>
              <a:buFont typeface="Arial"/>
              <a:buChar char="•"/>
            </a:pPr>
            <a:r>
              <a:t>Community and feedback: [Tech Community link]</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8</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Appendix</a:t>
            </a:r>
          </a:p>
          <a:p>
            <a:pPr algn="l">
              <a:spcBef>
                <a:spcPts val="800"/>
              </a:spcBef>
              <a:defRPr sz="2200">
                <a:solidFill>
                  <a:srgbClr val="50E6FF"/>
                </a:solidFill>
                <a:latin typeface="Segoe UI"/>
              </a:defRPr>
            </a:pPr>
            <a:r>
              <a:t>Reference Materials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Roles &amp; Responsibilities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Executive Sponsor — Approves scope, provides access, makes go/no-go decision</a:t>
            </a:r>
          </a:p>
          <a:p>
            <a:pPr marL="228600" indent="-228600">
              <a:spcBef>
                <a:spcPts val="400"/>
              </a:spcBef>
              <a:spcAft>
                <a:spcPts val="1000"/>
              </a:spcAft>
              <a:defRPr sz="1400">
                <a:solidFill>
                  <a:srgbClr val="000000"/>
                </a:solidFill>
                <a:latin typeface="Segoe UI Semibold"/>
              </a:defRPr>
              <a:buFont typeface="Arial"/>
              <a:buChar char="•"/>
            </a:pPr>
            <a:r>
              <a:t>IT Admin — Configures M365 Admin Center, manages agent registry</a:t>
            </a:r>
          </a:p>
          <a:p>
            <a:pPr marL="228600" indent="-228600">
              <a:spcBef>
                <a:spcPts val="400"/>
              </a:spcBef>
              <a:spcAft>
                <a:spcPts val="1000"/>
              </a:spcAft>
              <a:defRPr sz="1400">
                <a:solidFill>
                  <a:srgbClr val="000000"/>
                </a:solidFill>
                <a:latin typeface="Segoe UI Semibold"/>
              </a:defRPr>
              <a:buFont typeface="Arial"/>
              <a:buChar char="•"/>
            </a:pPr>
            <a:r>
              <a:t>Identity Admin — Manages Entra ID agent identities, conditional access policies</a:t>
            </a:r>
          </a:p>
          <a:p>
            <a:pPr marL="228600" indent="-228600">
              <a:spcBef>
                <a:spcPts val="400"/>
              </a:spcBef>
              <a:spcAft>
                <a:spcPts val="1000"/>
              </a:spcAft>
              <a:defRPr sz="1400">
                <a:solidFill>
                  <a:srgbClr val="000000"/>
                </a:solidFill>
                <a:latin typeface="Segoe UI Semibold"/>
              </a:defRPr>
              <a:buFont typeface="Arial"/>
              <a:buChar char="•"/>
            </a:pPr>
            <a:r>
              <a:t>Data Security Lead — Configures Purview DLP, sensitivity labels for agents</a:t>
            </a:r>
          </a:p>
          <a:p>
            <a:pPr marL="228600" indent="-228600">
              <a:spcBef>
                <a:spcPts val="400"/>
              </a:spcBef>
              <a:spcAft>
                <a:spcPts val="1000"/>
              </a:spcAft>
              <a:defRPr sz="1400">
                <a:solidFill>
                  <a:srgbClr val="000000"/>
                </a:solidFill>
                <a:latin typeface="Segoe UI Semibold"/>
              </a:defRPr>
              <a:buFont typeface="Arial"/>
              <a:buChar char="•"/>
            </a:pPr>
            <a:r>
              <a:t>SOC Analyst — Monitors Defender alerts, investigates agent threats, runs response</a:t>
            </a:r>
          </a:p>
          <a:p>
            <a:pPr marL="228600" indent="-228600">
              <a:spcBef>
                <a:spcPts val="400"/>
              </a:spcBef>
              <a:spcAft>
                <a:spcPts val="1000"/>
              </a:spcAft>
              <a:defRPr sz="1400">
                <a:solidFill>
                  <a:srgbClr val="000000"/>
                </a:solidFill>
                <a:latin typeface="Segoe UI Semibold"/>
              </a:defRPr>
              <a:buFont typeface="Arial"/>
              <a:buChar char="•"/>
            </a:pPr>
            <a:r>
              <a:t>Business Owners — Identify agents for POC, validate success criteria alignment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Agent Types in Scope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Microsoft 365 Copilot</a:t>
            </a:r>
          </a:p>
          <a:p>
            <a:pPr marL="228600" indent="-228600">
              <a:spcBef>
                <a:spcPts val="400"/>
              </a:spcBef>
              <a:spcAft>
                <a:spcPts val="1000"/>
              </a:spcAft>
              <a:defRPr sz="1400">
                <a:solidFill>
                  <a:srgbClr val="000000"/>
                </a:solidFill>
                <a:latin typeface="Segoe UI Semibold"/>
              </a:defRPr>
              <a:buFont typeface="Arial"/>
              <a:buChar char="•"/>
            </a:pPr>
            <a:r>
              <a:t>Copilot Agent Builder agents</a:t>
            </a:r>
          </a:p>
          <a:p>
            <a:pPr marL="228600" indent="-228600">
              <a:spcBef>
                <a:spcPts val="400"/>
              </a:spcBef>
              <a:spcAft>
                <a:spcPts val="1000"/>
              </a:spcAft>
              <a:defRPr sz="1400">
                <a:solidFill>
                  <a:srgbClr val="000000"/>
                </a:solidFill>
                <a:latin typeface="Segoe UI Semibold"/>
              </a:defRPr>
              <a:buFont typeface="Arial"/>
              <a:buChar char="•"/>
            </a:pPr>
            <a:r>
              <a:t>Copilot Studio agents</a:t>
            </a:r>
          </a:p>
          <a:p>
            <a:pPr marL="228600" indent="-228600">
              <a:spcBef>
                <a:spcPts val="400"/>
              </a:spcBef>
              <a:spcAft>
                <a:spcPts val="1000"/>
              </a:spcAft>
              <a:defRPr sz="1400">
                <a:solidFill>
                  <a:srgbClr val="000000"/>
                </a:solidFill>
                <a:latin typeface="Segoe UI Semibold"/>
              </a:defRPr>
              <a:buFont typeface="Arial"/>
              <a:buChar char="•"/>
            </a:pPr>
            <a:r>
              <a:t>Microsoft 365 Copilot Chat</a:t>
            </a:r>
          </a:p>
          <a:p>
            <a:pPr marL="228600" indent="-228600">
              <a:spcBef>
                <a:spcPts val="400"/>
              </a:spcBef>
              <a:spcAft>
                <a:spcPts val="1000"/>
              </a:spcAft>
              <a:defRPr sz="1400">
                <a:solidFill>
                  <a:srgbClr val="000000"/>
                </a:solidFill>
                <a:latin typeface="Segoe UI Semibold"/>
              </a:defRPr>
              <a:buFont typeface="Arial"/>
              <a:buChar char="•"/>
            </a:pPr>
            <a:r>
              <a:t>SharePoint agents</a:t>
            </a:r>
          </a:p>
          <a:p>
            <a:pPr marL="228600" indent="-228600">
              <a:spcBef>
                <a:spcPts val="400"/>
              </a:spcBef>
              <a:spcAft>
                <a:spcPts val="1000"/>
              </a:spcAft>
              <a:defRPr sz="1400">
                <a:solidFill>
                  <a:srgbClr val="000000"/>
                </a:solidFill>
                <a:latin typeface="Segoe UI Semibold"/>
              </a:defRPr>
              <a:buFont typeface="Arial"/>
              <a:buChar char="•"/>
            </a:pPr>
            <a:r>
              <a:t>Azure AI Foundry agents</a:t>
            </a:r>
          </a:p>
          <a:p>
            <a:pPr marL="228600" indent="-228600">
              <a:spcBef>
                <a:spcPts val="400"/>
              </a:spcBef>
              <a:spcAft>
                <a:spcPts val="1000"/>
              </a:spcAft>
              <a:defRPr sz="1400">
                <a:solidFill>
                  <a:srgbClr val="000000"/>
                </a:solidFill>
                <a:latin typeface="Segoe UI Semibold"/>
              </a:defRPr>
              <a:buFont typeface="Arial"/>
              <a:buChar char="•"/>
            </a:pPr>
            <a:r>
              <a:t>First-party Microsoft agents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Glossary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 365 — Microsoft 365 governance capability set for AI agents (not a separate SKU)</a:t>
            </a:r>
          </a:p>
          <a:p>
            <a:pPr marL="228600" indent="-228600">
              <a:spcBef>
                <a:spcPts val="400"/>
              </a:spcBef>
              <a:spcAft>
                <a:spcPts val="1000"/>
              </a:spcAft>
              <a:defRPr sz="1400">
                <a:solidFill>
                  <a:srgbClr val="000000"/>
                </a:solidFill>
                <a:latin typeface="Segoe UI Semibold"/>
              </a:defRPr>
              <a:buFont typeface="Arial"/>
              <a:buChar char="•"/>
            </a:pPr>
            <a:r>
              <a:t>Entra Agent ID — Workload identity in Entra ID purpose-built for agent governance</a:t>
            </a:r>
          </a:p>
          <a:p>
            <a:pPr marL="228600" indent="-228600">
              <a:spcBef>
                <a:spcPts val="400"/>
              </a:spcBef>
              <a:spcAft>
                <a:spcPts val="1000"/>
              </a:spcAft>
              <a:defRPr sz="1400">
                <a:solidFill>
                  <a:srgbClr val="000000"/>
                </a:solidFill>
                <a:latin typeface="Segoe UI Semibold"/>
              </a:defRPr>
              <a:buFont typeface="Arial"/>
              <a:buChar char="•"/>
            </a:pPr>
            <a:r>
              <a:t>Unified Audit Log — M365 compliance system of record for all user and agent activity</a:t>
            </a:r>
          </a:p>
          <a:p>
            <a:pPr marL="228600" indent="-228600">
              <a:spcBef>
                <a:spcPts val="400"/>
              </a:spcBef>
              <a:spcAft>
                <a:spcPts val="1000"/>
              </a:spcAft>
              <a:defRPr sz="1400">
                <a:solidFill>
                  <a:srgbClr val="000000"/>
                </a:solidFill>
                <a:latin typeface="Segoe UI Semibold"/>
              </a:defRPr>
              <a:buFont typeface="Arial"/>
              <a:buChar char="•"/>
            </a:pPr>
            <a:r>
              <a:t>Conditional Access — Policy engine enforcing identity-based access rules</a:t>
            </a:r>
          </a:p>
          <a:p>
            <a:pPr marL="228600" indent="-228600">
              <a:spcBef>
                <a:spcPts val="400"/>
              </a:spcBef>
              <a:spcAft>
                <a:spcPts val="1000"/>
              </a:spcAft>
              <a:defRPr sz="1400">
                <a:solidFill>
                  <a:srgbClr val="000000"/>
                </a:solidFill>
                <a:latin typeface="Segoe UI Semibold"/>
              </a:defRPr>
              <a:buFont typeface="Arial"/>
              <a:buChar char="•"/>
            </a:pPr>
            <a:r>
              <a:t>DLP (Data Loss Prevention) — Purview policies preventing unauthorized data exposure</a:t>
            </a:r>
          </a:p>
          <a:p>
            <a:pPr marL="228600" indent="-228600">
              <a:spcBef>
                <a:spcPts val="400"/>
              </a:spcBef>
              <a:spcAft>
                <a:spcPts val="1000"/>
              </a:spcAft>
              <a:defRPr sz="1400">
                <a:solidFill>
                  <a:srgbClr val="000000"/>
                </a:solidFill>
                <a:latin typeface="Segoe UI Semibold"/>
              </a:defRPr>
              <a:buFont typeface="Arial"/>
              <a:buChar char="•"/>
            </a:pPr>
            <a:r>
              <a:t>Sensitivity Labels — Classification and protection tags that travel with content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Concept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