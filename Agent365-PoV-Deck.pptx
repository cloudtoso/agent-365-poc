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Today we're kicking off the Agent 365 Proof of Value — a focused engagement designed to show you how Microsoft brings AI agents under the same governance controls you already rely on for your people. Over the next 4 to 6 weeks, we'll prove this with your real agents, in your real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challenge: your teams are already building and adopting AI agents. But most governance tooling was designed for human users. Agents don't fit that mold natively. The result is shadow agents, ungoverned data access, and compliance gaps that auditors will eventually find. This is the problem Agent 365 was built to solve.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365 isn't a bolt-on product or a separate console. It extends the Microsoft 365 platform you already operate — Entra for identity, Purview for data protection, Defender for threat detection, and the M365 Admin Center for management. Your agents get the same controls as your employees.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isn't a theoretical exercise. We'll work with agents your teams actually use — or plan to deploy. We'll configure each use case against your existing security and compliance posture, measure success against specific criteria, and at the end you'll have a clear decision framework for broader rollout.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with the most fundamental question: do you actually know how many AI agents are operating in your environment right now? Most organizations can't answer that confidently. Agent 365 provides a built-in registry in the M365 Admin Center that auto-discovers agents — no connectors, no third-party CMDB sync.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 we'll open the M365 Admin Center and walk through the agent registry. You'll see agents that were auto-discovered alongside those that were manually registered. We'll classify an unregistered agent live, then deploy a test agent and watch it appear in the registry within minutes.</a:t>
            </a:r>
          </a:p>
          <a:p/>
          <a:p>
            <a:r>
              <a:t>Detailed procedure: demo-steps.md, UC1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here is binary and measurable. By the end of this use case, every agent in your environment should be visible in the registry. We specifically look for the "aha moment" — when auto-discovery surfaces an agent that IT didn't know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differentiator here is "native." You're not installing a third-party scanner or building API integrations to populate a CMDB. Agent discovery is built into the same Admin Center your IT team already opens every morning.</a:t>
            </a:r>
          </a:p>
          <a:p/>
          <a:p>
            <a:r>
              <a:t>CISO Talking Points:</a:t>
            </a:r>
          </a:p>
          <a:p>
            <a:r>
              <a:t>- "We eliminate shadow agent risk at the platform layer — agents are registered as they're created, not after they're discovered."</a:t>
            </a:r>
          </a:p>
          <a:p>
            <a:r>
              <a:t>- "The registry is authoritative. It doesn't depend on network scanning or API polling that can miss ephemeral agents."</a:t>
            </a:r>
          </a:p>
          <a:p>
            <a:r>
              <a:t>- "Visibility is the prerequisite for governance. Native inventory means governance starts at creation."</a:t>
            </a:r>
          </a:p>
          <a:p/>
          <a:p>
            <a:r>
              <a:t>CIO Talking Points:</a:t>
            </a:r>
          </a:p>
          <a:p>
            <a:r>
              <a:t>- "No new procurement for agent discovery tooling — it's included in your existing M365 licensing."</a:t>
            </a:r>
          </a:p>
          <a:p>
            <a:r>
              <a:t>- "Your IT ops team doesn't learn a new console."</a:t>
            </a:r>
          </a:p>
          <a:p>
            <a:r>
              <a:t>- "Automatic coverage means no integration project to scope, fund, or maintain."</a:t>
            </a:r>
          </a:p>
          <a:p/>
          <a:p>
            <a:r>
              <a:t>If asked about CMDB: CMDBs track what you tell them to track. Native registry captures agents at creation — before anyone has to remember to register them.</a:t>
            </a:r>
          </a:p>
          <a:p>
            <a:r>
              <a:t>If asked about non-Microsoft agents: Third-party agents can be registered via API or admin onboarding. Microsoft-platform agents require zero effort.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it works technically. The discovery engine monitors your tenant's authentication and API activity. When it detects a non-human identity behaving as an agent, it surfaces that entity in the registry. Your admins get notified, classify it, and from that point forward it's under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about how your agents authenticate today. Shared service accounts? Broad app registrations with more permissions than needed? Agent 365 gives each agent its own Entra identity — same fabric, same policies, same logs as your human users.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 we'll create a dedicated Entra Agent ID, assign it the minimum permissions needed for its function, and apply a conditional access policy. Then we'll trigger the agent to act, and you'll see its activity appear in the sign-in logs.</a:t>
            </a:r>
          </a:p>
          <a:p/>
          <a:p>
            <a:r>
              <a:t>Detailed procedure: demo-steps.md, UC2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validate that every agent in the PoV has its own identity, that conditional access actually stops the agent when boundaries are crossed, and that sign-in logs capture full authentication details.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separates this from every other approach: there's no parallel identity store. Your agents are in the same directory as your people.</a:t>
            </a:r>
          </a:p>
          <a:p/>
          <a:p>
            <a:r>
              <a:t>CISO Talking Points:</a:t>
            </a:r>
          </a:p>
          <a:p>
            <a:r>
              <a:t>- "Agents get identities in the same Entra ID tenant your workforce uses. Conditional access, PIM, and access reviews apply without modification."</a:t>
            </a:r>
          </a:p>
          <a:p>
            <a:r>
              <a:t>- "Least-privilege for agents isn't a new initiative — it's an extension of the initiative you're already running for human identities."</a:t>
            </a:r>
          </a:p>
          <a:p>
            <a:r>
              <a:t>- "Workload identities for agents support the same zero-trust principles."</a:t>
            </a:r>
          </a:p>
          <a:p/>
          <a:p>
            <a:r>
              <a:t>CIO Talking Points:</a:t>
            </a:r>
          </a:p>
          <a:p>
            <a:r>
              <a:t>- "Zero new identity infrastructure to procure, deploy, or staff."</a:t>
            </a:r>
          </a:p>
          <a:p>
            <a:r>
              <a:t>- "Your IAM team's existing skills apply directly. No retraining, no new vendor certification."</a:t>
            </a:r>
          </a:p>
          <a:p>
            <a:r>
              <a:t>- "Access reviews for agents use the same workflow your managers already complete."</a:t>
            </a:r>
          </a:p>
          <a:p/>
          <a:p>
            <a:r>
              <a:t>If asked "Agents aren't users": They're workload identities — a purpose-built identity type in Entra ID for non-human entities.</a:t>
            </a:r>
          </a:p>
          <a:p>
            <a:r>
              <a:t>If asked about high-privilege agents: Same answer as for human admins: PIM with just-in-time elevation, time-bound access, and approval workflows.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Purview DLP policies already protect against users sharing sensitive data inappropriately. But what about your agents? They process documents, summarize emails, move data between systems — all at machine speed. Agent 365 extends the same Purview policies to agent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configure a DLP policy that explicitly covers agent activities, then ask an agent to process a document marked "Confidential." You'll see the policy fire — blocking the agent from sharing that content externally.</a:t>
            </a:r>
          </a:p>
          <a:p/>
          <a:p>
            <a:r>
              <a:t>Detailed procedure: demo-steps.md, UC3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means your existing DLP rules work identically for agents as they do for users. Sensitivity labels must be respected. Every interaction is auditable, and your compliance team can use the same eDiscovery tools.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differentiator is unification. You don't write one set of DLP rules for users and another for agents.</a:t>
            </a:r>
          </a:p>
          <a:p/>
          <a:p>
            <a:r>
              <a:t>CISO Talking Points:</a:t>
            </a:r>
          </a:p>
          <a:p>
            <a:r>
              <a:t>- "Your DLP investment extends to agents automatically. The rules you spent years tuning protect agent interactions without rework."</a:t>
            </a:r>
          </a:p>
          <a:p>
            <a:r>
              <a:t>- "Sensitivity labels travel with the data — whether a human or an agent touches it."</a:t>
            </a:r>
          </a:p>
          <a:p>
            <a:r>
              <a:t>- "Policy violations by agents produce the same alerts, in the same console, investigated by the same team."</a:t>
            </a:r>
          </a:p>
          <a:p/>
          <a:p>
            <a:r>
              <a:t>CIO Talking Points:</a:t>
            </a:r>
          </a:p>
          <a:p>
            <a:r>
              <a:t>- "No new data protection platform to procure. Your existing Purview investment covers agents."</a:t>
            </a:r>
          </a:p>
          <a:p>
            <a:r>
              <a:t>- "No 'agent DLP project' to fund. Existing policies extend with configuration, not reimplementation."</a:t>
            </a:r>
          </a:p>
          <a:p>
            <a:r>
              <a:t>- "Cost of data protection governance doesn't scale linearly with agent count."</a:t>
            </a:r>
          </a:p>
          <a:p/>
          <a:p>
            <a:r>
              <a:t>If asked about human-pattern DLP: Agents interact through the same channels — email, SharePoint, Teams, OneDrive. Enforcement points are identical.</a:t>
            </a:r>
          </a:p>
          <a:p>
            <a:r>
              <a:t>If asked about different thresholds: Purview supports agent-scoped policy variants with different thresholds while reusing same sensitive information types.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SOC monitors users and endpoints around the clock. But what about agents? A compromised agent with broad permissions is an attacker's dream. Agent 365 brings agents into Defender XDR as first-class assets.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 we'll show your agents appearing as managed assets in the Defender console. Then we'll simulate anomalous behavior — an agent accessing resources outside its normal pattern. You'll see the alert fire, the attack-path visualization, and the SOC response workflow.</a:t>
            </a:r>
          </a:p>
          <a:p/>
          <a:p>
            <a:r>
              <a:t>Detailed procedure: demo-steps.md, UC4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measure detection time, accuracy of the attack-path visualization, and the SOC's ability to respond from a single console. The key validation is end-to-end: anomalous behavior → alert → visualization → response → containment.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differentiator is "first-class." Agents aren't bolted onto Defender as a custom data source — they're native assets.</a:t>
            </a:r>
          </a:p>
          <a:p/>
          <a:p>
            <a:r>
              <a:t>CISO Talking Points:</a:t>
            </a:r>
          </a:p>
          <a:p>
            <a:r>
              <a:t>- "Agent threats appear in the same Defender incident queue as user and endpoint threats — one priority list, one triage workflow."</a:t>
            </a:r>
          </a:p>
          <a:p>
            <a:r>
              <a:t>- "Correlation between agent and human activity happens automatically."</a:t>
            </a:r>
          </a:p>
          <a:p>
            <a:r>
              <a:t>- "Your SOC doesn't need an 'agent security' specialization. Existing Defender skills apply directly."</a:t>
            </a:r>
          </a:p>
          <a:p>
            <a:r>
              <a:t>- "Automated response playbooks can isolate or disable a compromised agent the same way they isolate an endpoint."</a:t>
            </a:r>
          </a:p>
          <a:p/>
          <a:p>
            <a:r>
              <a:t>CIO Talking Points:</a:t>
            </a:r>
          </a:p>
          <a:p>
            <a:r>
              <a:t>- "No new security tool to procure for agent-specific threat detection."</a:t>
            </a:r>
          </a:p>
          <a:p>
            <a:r>
              <a:t>- "SOC headcount doesn't increase proportionally with agent count."</a:t>
            </a:r>
          </a:p>
          <a:p>
            <a:r>
              <a:t>- "MTTD and MTTR benefit from the same automation and AI-assisted investigation."</a:t>
            </a:r>
          </a:p>
          <a:p/>
          <a:p>
            <a:r>
              <a:t>If asked about alert fatigue: Correlation reduces total alert volume. A compromised agent + DLP flag = one correlated incident, not three separate alerts.</a:t>
            </a:r>
          </a:p>
          <a:p>
            <a:r>
              <a:t>If asked about agent-specific dashboards: Defender supports filtered views — agent-specific dashboards while benefiting from unified correlation.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a scenario playing out right now: your compliance team passes an audit, but the auditor asks, "What about your AI agents?" If you can't answer that in the same compliance framework they already trust, you have a finding.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walk through the full lifecycle of an agent in audit terms. You'll see the trail from deployment through every action it took. Then we'll execute a lifecycle drill — blocking, deactivating, and deleting — verifying each action is audited.</a:t>
            </a:r>
          </a:p>
          <a:p/>
          <a:p>
            <a:r>
              <a:t>Detailed procedure: demo-steps.md, UC5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here means an auditor can pick up the compliance report, see agent activities alongside user activities, and trace any agent's full history from deployment to deletion.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power here is trust. Your auditors already accept evidence from M365 compliance tools. Agent activities feed that same system.</a:t>
            </a:r>
          </a:p>
          <a:p/>
          <a:p>
            <a:r>
              <a:t>CISO Talking Points:</a:t>
            </a:r>
          </a:p>
          <a:p>
            <a:r>
              <a:t>- "Agent lifecycle events are captured in the same unified audit log your compliance team already queries."</a:t>
            </a:r>
          </a:p>
          <a:p>
            <a:r>
              <a:t>- "Retention policies that apply to human activity audit data apply to agent activity audit data."</a:t>
            </a:r>
          </a:p>
          <a:p>
            <a:r>
              <a:t>- "When auditors ask 'how do you govern agents?', the answer is 'the same way we govern everything else.'"</a:t>
            </a:r>
          </a:p>
          <a:p/>
          <a:p>
            <a:r>
              <a:t>CIO Talking Points:</a:t>
            </a:r>
          </a:p>
          <a:p>
            <a:r>
              <a:t>- "No new compliance tooling procurement. Agent audit evidence lives in existing M365 compliance infrastructure."</a:t>
            </a:r>
          </a:p>
          <a:p>
            <a:r>
              <a:t>- "Your compliance team doesn't need new skills or certifications."</a:t>
            </a:r>
          </a:p>
          <a:p>
            <a:r>
              <a:t>- "Audit preparation cost doesn't increase with agent adoption."</a:t>
            </a:r>
          </a:p>
          <a:p/>
          <a:p>
            <a:r>
              <a:t>If asked about auditor unfamiliarity: They'll question it less if it's in a system they already trust.</a:t>
            </a:r>
          </a:p>
          <a:p>
            <a:r>
              <a:t>If asked about agent-specific reports: The unified audit log supports filtered queries for agent-specific views.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Technically, every agent action writes to the same unified audit log as user actions — same schema, same retention handling. When an agent changes lifecycle state, compliance workflows fire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users work in Outlook, Teams, Word, and SharePoint. Increasingly, so do AI agents. The question is: are those agents operating under the same governance as your people?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apply connection-level blocking by disabling specific connections for an agent. This approach is simpler and more dramatic for demos than granular action-level permissions.</a:t>
            </a:r>
          </a:p>
          <a:p/>
          <a:p>
            <a:r>
              <a:t>Detailed procedure: demo-steps.md, UC6</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need to prove three things: allowed actions work smoothly, blocked actions are denied instantly, and policy changes take effect without requiring agent redeployment.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differentiator is seamlessness. Your users don't need a new app, a browser extension, or a sidebar.</a:t>
            </a:r>
          </a:p>
          <a:p/>
          <a:p>
            <a:r>
              <a:t>CISO Talking Points:</a:t>
            </a:r>
          </a:p>
          <a:p>
            <a:r>
              <a:t>- "Agents in familiar surfaces means users follow established security behaviors."</a:t>
            </a:r>
          </a:p>
          <a:p>
            <a:r>
              <a:t>- "No new client application means no new attack surface to secure, patch, or monitor."</a:t>
            </a:r>
          </a:p>
          <a:p>
            <a:r>
              <a:t>- "Security controls that apply to Teams and M365 apps apply to agent interactions within them."</a:t>
            </a:r>
          </a:p>
          <a:p/>
          <a:p>
            <a:r>
              <a:t>CIO Talking Points:</a:t>
            </a:r>
          </a:p>
          <a:p>
            <a:r>
              <a:t>- "Adoption cost is near zero. Users interact with agents in Teams and M365 apps they already use daily."</a:t>
            </a:r>
          </a:p>
          <a:p>
            <a:r>
              <a:t>- "No client deployment project. No MDM profile updates."</a:t>
            </a:r>
          </a:p>
          <a:p>
            <a:r>
              <a:t>- "IT admin overhead is configuration, not infrastructure."</a:t>
            </a:r>
          </a:p>
          <a:p/>
          <a:p>
            <a:r>
              <a:t>If asked about specialized interfaces: Adaptive Cards in Teams support complex workflows without leaving the familiar surface.</a:t>
            </a:r>
          </a:p>
          <a:p>
            <a:r>
              <a:t>If asked about controlling visibility: Agent visibility controlled through same Teams app permission policies and Entra ID group assignments.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bring it all together. Over these weeks, we proved that Agent 365 delivers real, measurable governance across every dimension. And we did it using the tools and frameworks your teams already operate. No new consoles, no parallel systems, no learning curve.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PoV proved the technology works with your agents in your environment. The next step is broader rollout — extending governance to your full agent estate, integrating with change management, and enabling self-service registration.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time and partnership throughout this Proof of Value. Your account team is here to support next steps. We'll deliver the formal PoV completion report within one week of engagement close. Let's govern your agents the way you govern your people.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Roles involved in the Agent 365 Proof of Value engagement.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Agent types supported in the Agent 365 PoV. Note: Agent 365 is the governance capability set within Microsoft 365 — not a separately licensed product.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Key terms for mixed-audience understanding.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0"/>
          <a:lstStyle/>
          <a:p>
            <a:pPr algn="l">
              <a:defRPr sz="4400" b="1">
                <a:solidFill>
                  <a:srgbClr val="FFFFFF"/>
                </a:solidFill>
                <a:latin typeface="Segoe UI"/>
              </a:defRPr>
            </a:pPr>
            <a:r>
              <a:t>Agent 365 — Proof of Value</a:t>
            </a:r>
          </a:p>
          <a:p>
            <a:pPr algn="l">
              <a:defRPr sz="2400">
                <a:solidFill>
                  <a:srgbClr val="FFFFFF"/>
                </a:solidFill>
                <a:latin typeface="Segoe UI"/>
              </a:defRPr>
            </a:pPr>
            <a:r>
              <a:t>Customer Enablement Deck</a:t>
            </a:r>
          </a:p>
          <a:p/>
          <a:p>
            <a:pPr algn="l">
              <a:defRPr sz="1800">
                <a:solidFill>
                  <a:srgbClr val="FFFFFF"/>
                </a:solidFill>
                <a:latin typeface="Segoe UI"/>
              </a:defRPr>
            </a:pPr>
            <a:r>
              <a:t>Govern AI Agents with the Controls You Already Trust</a:t>
            </a:r>
          </a:p>
          <a:p>
            <a:pPr algn="l">
              <a:defRPr sz="1600">
                <a:solidFill>
                  <a:srgbClr val="FFFFFF"/>
                </a:solidFill>
                <a:latin typeface="Segoe UI"/>
              </a:defRPr>
            </a:pPr>
            <a:r>
              <a:t>[Customer Name] | [Date] | 4–6 Week Engagement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AI Agents Are Growing — Governance Isn't Keeping Up</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Organizations are deploying 10–50+ AI agents across departments — often without IT visibility</a:t>
            </a:r>
          </a:p>
          <a:p>
            <a:pPr>
              <a:spcAft>
                <a:spcPts val="1200"/>
              </a:spcAft>
              <a:defRPr sz="1800">
                <a:solidFill>
                  <a:srgbClr val="333333"/>
                </a:solidFill>
                <a:latin typeface="Segoe UI"/>
              </a:defRPr>
            </a:pPr>
            <a:r>
              <a:t>Shadow agents create blind spots in identity, data protection, and compliance</a:t>
            </a:r>
          </a:p>
          <a:p>
            <a:pPr>
              <a:spcAft>
                <a:spcPts val="1200"/>
              </a:spcAft>
              <a:defRPr sz="1800">
                <a:solidFill>
                  <a:srgbClr val="333333"/>
                </a:solidFill>
                <a:latin typeface="Segoe UI"/>
              </a:defRPr>
            </a:pPr>
            <a:r>
              <a:t>Traditional tools weren't built for non-human actors operating at machine speed</a:t>
            </a:r>
          </a:p>
          <a:p>
            <a:pPr>
              <a:spcAft>
                <a:spcPts val="1200"/>
              </a:spcAft>
              <a:defRPr sz="1800">
                <a:solidFill>
                  <a:srgbClr val="333333"/>
                </a:solidFill>
                <a:latin typeface="Segoe UI"/>
              </a:defRPr>
            </a:pPr>
            <a:r>
              <a:t>The gap between agent adoption and agent governance widens every quarter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One Platform. Same Controls. Now for Agents.</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Discover and register every agent — eliminate shadow AI</a:t>
            </a:r>
          </a:p>
          <a:p>
            <a:pPr>
              <a:spcAft>
                <a:spcPts val="1200"/>
              </a:spcAft>
              <a:defRPr sz="1800">
                <a:solidFill>
                  <a:srgbClr val="333333"/>
                </a:solidFill>
                <a:latin typeface="Segoe UI"/>
              </a:defRPr>
            </a:pPr>
            <a:r>
              <a:t>Assign identity and least-privilege access through Entra ID</a:t>
            </a:r>
          </a:p>
          <a:p>
            <a:pPr>
              <a:spcAft>
                <a:spcPts val="1200"/>
              </a:spcAft>
              <a:defRPr sz="1800">
                <a:solidFill>
                  <a:srgbClr val="333333"/>
                </a:solidFill>
                <a:latin typeface="Segoe UI"/>
              </a:defRPr>
            </a:pPr>
            <a:r>
              <a:t>Apply the same DLP, sensitivity labels, and insider risk policies</a:t>
            </a:r>
          </a:p>
          <a:p>
            <a:pPr>
              <a:spcAft>
                <a:spcPts val="1200"/>
              </a:spcAft>
              <a:defRPr sz="1800">
                <a:solidFill>
                  <a:srgbClr val="333333"/>
                </a:solidFill>
                <a:latin typeface="Segoe UI"/>
              </a:defRPr>
            </a:pPr>
            <a:r>
              <a:t>Detect threats and respond in Defender — agents as first-class assets</a:t>
            </a:r>
          </a:p>
          <a:p>
            <a:pPr>
              <a:spcAft>
                <a:spcPts val="1200"/>
              </a:spcAft>
              <a:defRPr sz="1800">
                <a:solidFill>
                  <a:srgbClr val="333333"/>
                </a:solidFill>
                <a:latin typeface="Segoe UI"/>
              </a:defRPr>
            </a:pPr>
            <a:r>
              <a:t>Maintain full audit trail using M365 compliance fabric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Proof of Value — Your Agents, Your Environment, Real Results</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6 use cases covering the full agent governance lifecycle</a:t>
            </a:r>
          </a:p>
          <a:p>
            <a:pPr>
              <a:spcAft>
                <a:spcPts val="1200"/>
              </a:spcAft>
              <a:defRPr sz="1800">
                <a:solidFill>
                  <a:srgbClr val="333333"/>
                </a:solidFill>
                <a:latin typeface="Segoe UI"/>
              </a:defRPr>
            </a:pPr>
            <a:r>
              <a:t>Executed against 3+ agents you identify from your environment</a:t>
            </a:r>
          </a:p>
          <a:p>
            <a:pPr>
              <a:spcAft>
                <a:spcPts val="1200"/>
              </a:spcAft>
              <a:defRPr sz="1800">
                <a:solidFill>
                  <a:srgbClr val="333333"/>
                </a:solidFill>
                <a:latin typeface="Segoe UI"/>
              </a:defRPr>
            </a:pPr>
            <a:r>
              <a:t>Built on your existing Entra, Purview, and Defender configurations</a:t>
            </a:r>
          </a:p>
          <a:p>
            <a:pPr>
              <a:spcAft>
                <a:spcPts val="1200"/>
              </a:spcAft>
              <a:defRPr sz="1800">
                <a:solidFill>
                  <a:srgbClr val="333333"/>
                </a:solidFill>
                <a:latin typeface="Segoe UI"/>
              </a:defRPr>
            </a:pPr>
            <a:r>
              <a:t>Measurable success criteria for every use case</a:t>
            </a:r>
          </a:p>
          <a:p>
            <a:pPr>
              <a:spcAft>
                <a:spcPts val="1200"/>
              </a:spcAft>
              <a:defRPr sz="1800">
                <a:solidFill>
                  <a:srgbClr val="333333"/>
                </a:solidFill>
                <a:latin typeface="Segoe UI"/>
              </a:defRPr>
            </a:pPr>
            <a:r>
              <a:t>Clear path from PoV to production rollout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FFFFFF"/>
                </a:solidFill>
                <a:latin typeface="Segoe UI"/>
              </a:defRPr>
            </a:pPr>
            <a:r>
              <a:t>Use Case 1</a:t>
            </a:r>
          </a:p>
          <a:p>
            <a:pPr algn="ctr">
              <a:defRPr sz="2000">
                <a:solidFill>
                  <a:srgbClr val="FFFFFF"/>
                </a:solidFill>
                <a:latin typeface="Segoe UI"/>
              </a:defRPr>
            </a:pPr>
            <a:r>
              <a:t>Agent Inventory and Discovery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Do You Know Every Agent Operating in Your Tenant?</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Shadow agents bypass security review and operate without IT awareness</a:t>
            </a:r>
          </a:p>
          <a:p>
            <a:pPr>
              <a:spcAft>
                <a:spcPts val="1200"/>
              </a:spcAft>
              <a:defRPr sz="1800">
                <a:solidFill>
                  <a:srgbClr val="333333"/>
                </a:solidFill>
                <a:latin typeface="Segoe UI"/>
              </a:defRPr>
            </a:pPr>
            <a:r>
              <a:t>Without a registry, there's no way to apply policy, revoke access, or audit behavior</a:t>
            </a:r>
          </a:p>
          <a:p>
            <a:pPr>
              <a:spcAft>
                <a:spcPts val="1200"/>
              </a:spcAft>
              <a:defRPr sz="1800">
                <a:solidFill>
                  <a:srgbClr val="333333"/>
                </a:solidFill>
                <a:latin typeface="Segoe UI"/>
              </a:defRPr>
            </a:pPr>
            <a:r>
              <a:t>Agent 365 provides a native registry in M365 Admin Center with auto-discovery</a:t>
            </a:r>
          </a:p>
          <a:p>
            <a:pPr>
              <a:spcAft>
                <a:spcPts val="1200"/>
              </a:spcAft>
              <a:defRPr sz="1800">
                <a:solidFill>
                  <a:srgbClr val="333333"/>
                </a:solidFill>
                <a:latin typeface="Segoe UI"/>
              </a:defRPr>
            </a:pPr>
            <a:r>
              <a:t>Goal: Zero shadow agents — every agent visible, classified, and accountable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Live Demo: Agent Registry and Auto-Discovery</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Navigate to Settings → Org settings → Agent management → Agent registry</a:t>
            </a:r>
          </a:p>
          <a:p>
            <a:pPr>
              <a:spcAft>
                <a:spcPts val="1200"/>
              </a:spcAft>
              <a:defRPr sz="1800">
                <a:solidFill>
                  <a:srgbClr val="333333"/>
                </a:solidFill>
                <a:latin typeface="Segoe UI"/>
              </a:defRPr>
            </a:pPr>
            <a:r>
              <a:t>Review auto-discovered agents vs. manually registered agents</a:t>
            </a:r>
          </a:p>
          <a:p>
            <a:pPr>
              <a:spcAft>
                <a:spcPts val="1200"/>
              </a:spcAft>
              <a:defRPr sz="1800">
                <a:solidFill>
                  <a:srgbClr val="333333"/>
                </a:solidFill>
                <a:latin typeface="Segoe UI"/>
              </a:defRPr>
            </a:pPr>
            <a:r>
              <a:t>Classify an unregistered agent (assign owner, purpose, risk tier)</a:t>
            </a:r>
          </a:p>
          <a:p>
            <a:pPr>
              <a:spcAft>
                <a:spcPts val="1200"/>
              </a:spcAft>
              <a:defRPr sz="1800">
                <a:solidFill>
                  <a:srgbClr val="333333"/>
                </a:solidFill>
                <a:latin typeface="Segoe UI"/>
              </a:defRPr>
            </a:pPr>
            <a:r>
              <a:t>Demonstrate real-time discovery of a newly deployed agent</a:t>
            </a:r>
          </a:p>
          <a:p>
            <a:pPr>
              <a:spcAft>
                <a:spcPts val="1200"/>
              </a:spcAft>
              <a:defRPr sz="1800">
                <a:solidFill>
                  <a:srgbClr val="333333"/>
                </a:solidFill>
                <a:latin typeface="Segoe UI"/>
              </a:defRPr>
            </a:pPr>
            <a:r>
              <a:t>Show filtering and search across agent inventory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How We Measure Success for Agent Discovery</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100% of known agents appear in the registry within 24 hours of deployment</a:t>
            </a:r>
          </a:p>
          <a:p>
            <a:pPr>
              <a:spcAft>
                <a:spcPts val="1200"/>
              </a:spcAft>
              <a:defRPr sz="1800">
                <a:solidFill>
                  <a:srgbClr val="333333"/>
                </a:solidFill>
                <a:latin typeface="Segoe UI"/>
              </a:defRPr>
            </a:pPr>
            <a:r>
              <a:t>Auto-discovery identifies at least 1 previously unknown agent in your tenant</a:t>
            </a:r>
          </a:p>
          <a:p>
            <a:pPr>
              <a:spcAft>
                <a:spcPts val="1200"/>
              </a:spcAft>
              <a:defRPr sz="1800">
                <a:solidFill>
                  <a:srgbClr val="333333"/>
                </a:solidFill>
                <a:latin typeface="Segoe UI"/>
              </a:defRPr>
            </a:pPr>
            <a:r>
              <a:t>Every registered agent has an assigned owner and risk classification</a:t>
            </a:r>
          </a:p>
          <a:p>
            <a:pPr>
              <a:spcAft>
                <a:spcPts val="1200"/>
              </a:spcAft>
              <a:defRPr sz="1800">
                <a:solidFill>
                  <a:srgbClr val="333333"/>
                </a:solidFill>
                <a:latin typeface="Segoe UI"/>
              </a:defRPr>
            </a:pPr>
            <a:r>
              <a:t>Zero agents operating outside the registry by end of PoV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Unified Registry — Native, Not Bolted On</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Built into M365 Admin Center — same console your admins already use daily</a:t>
            </a:r>
          </a:p>
          <a:p>
            <a:pPr>
              <a:spcAft>
                <a:spcPts val="1200"/>
              </a:spcAft>
              <a:defRPr sz="1800">
                <a:solidFill>
                  <a:srgbClr val="333333"/>
                </a:solidFill>
                <a:latin typeface="Segoe UI"/>
              </a:defRPr>
            </a:pPr>
            <a:r>
              <a:t>Auto-discovery is native to the platform — no API integrations or third-party scanners</a:t>
            </a:r>
          </a:p>
          <a:p>
            <a:pPr>
              <a:spcAft>
                <a:spcPts val="1200"/>
              </a:spcAft>
              <a:defRPr sz="1800">
                <a:solidFill>
                  <a:srgbClr val="333333"/>
                </a:solidFill>
                <a:latin typeface="Segoe UI"/>
              </a:defRPr>
            </a:pPr>
            <a:r>
              <a:t>Agent metadata lives in the same directory as users, groups, and devices</a:t>
            </a:r>
          </a:p>
          <a:p>
            <a:pPr>
              <a:spcAft>
                <a:spcPts val="1200"/>
              </a:spcAft>
              <a:defRPr sz="1800">
                <a:solidFill>
                  <a:srgbClr val="333333"/>
                </a:solidFill>
                <a:latin typeface="Segoe UI"/>
              </a:defRPr>
            </a:pPr>
            <a:r>
              <a:t>Competing solutions require separate inventory tools with manual sync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Under the Hood: Agent Discovery Flow</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Agents register via Entra app registration or are detected through M365 API activity</a:t>
            </a:r>
          </a:p>
          <a:p>
            <a:pPr>
              <a:spcAft>
                <a:spcPts val="1200"/>
              </a:spcAft>
              <a:defRPr sz="1800">
                <a:solidFill>
                  <a:srgbClr val="333333"/>
                </a:solidFill>
                <a:latin typeface="Segoe UI"/>
              </a:defRPr>
            </a:pPr>
            <a:r>
              <a:t>Discovery engine monitors authentication events, Graph API calls, and resource access</a:t>
            </a:r>
          </a:p>
          <a:p>
            <a:pPr>
              <a:spcAft>
                <a:spcPts val="1200"/>
              </a:spcAft>
              <a:defRPr sz="1800">
                <a:solidFill>
                  <a:srgbClr val="333333"/>
                </a:solidFill>
                <a:latin typeface="Segoe UI"/>
              </a:defRPr>
            </a:pPr>
            <a:r>
              <a:t>Newly detected agents surface in registry with "Unclassified" status</a:t>
            </a:r>
          </a:p>
          <a:p>
            <a:pPr>
              <a:spcAft>
                <a:spcPts val="1200"/>
              </a:spcAft>
              <a:defRPr sz="1800">
                <a:solidFill>
                  <a:srgbClr val="333333"/>
                </a:solidFill>
                <a:latin typeface="Segoe UI"/>
              </a:defRPr>
            </a:pPr>
            <a:r>
              <a:t>Admins receive alerts for unregistered agent activity</a:t>
            </a:r>
          </a:p>
          <a:p>
            <a:pPr>
              <a:spcAft>
                <a:spcPts val="1200"/>
              </a:spcAft>
              <a:defRPr sz="1800">
                <a:solidFill>
                  <a:srgbClr val="333333"/>
                </a:solidFill>
                <a:latin typeface="Segoe UI"/>
              </a:defRPr>
            </a:pPr>
            <a:r>
              <a:t>Full audit trail from first detection through classification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FFFFFF"/>
                </a:solidFill>
                <a:latin typeface="Segoe UI"/>
              </a:defRPr>
            </a:pPr>
            <a:r>
              <a:t>Use Case 2</a:t>
            </a:r>
          </a:p>
          <a:p>
            <a:pPr algn="ctr">
              <a:defRPr sz="2000">
                <a:solidFill>
                  <a:srgbClr val="FFFFFF"/>
                </a:solidFill>
                <a:latin typeface="Segoe UI"/>
              </a:defRPr>
            </a:pPr>
            <a:r>
              <a:t>Agent Identity and Least-Privilege Access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If Agents Don't Have Identity, They Can't Have Boundaries</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Agents today often share service accounts or use over-privileged app registrations</a:t>
            </a:r>
          </a:p>
          <a:p>
            <a:pPr>
              <a:spcAft>
                <a:spcPts val="1200"/>
              </a:spcAft>
              <a:defRPr sz="1800">
                <a:solidFill>
                  <a:srgbClr val="333333"/>
                </a:solidFill>
                <a:latin typeface="Segoe UI"/>
              </a:defRPr>
            </a:pPr>
            <a:r>
              <a:t>Without dedicated identity, you can't apply conditional access or audit individually</a:t>
            </a:r>
          </a:p>
          <a:p>
            <a:pPr>
              <a:spcAft>
                <a:spcPts val="1200"/>
              </a:spcAft>
              <a:defRPr sz="1800">
                <a:solidFill>
                  <a:srgbClr val="333333"/>
                </a:solidFill>
                <a:latin typeface="Segoe UI"/>
              </a:defRPr>
            </a:pPr>
            <a:r>
              <a:t>Agent 365 gives each agent an Entra Agent ID — same identity fabric as employees</a:t>
            </a:r>
          </a:p>
          <a:p>
            <a:pPr>
              <a:spcAft>
                <a:spcPts val="1200"/>
              </a:spcAft>
              <a:defRPr sz="1800">
                <a:solidFill>
                  <a:srgbClr val="333333"/>
                </a:solidFill>
                <a:latin typeface="Segoe UI"/>
              </a:defRPr>
            </a:pPr>
            <a:r>
              <a:t>Enables scoped tokens, conditional access policies, and per-agent sign-in logs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Live Demo: Entra Agent ID and Conditional Access</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Create an Entra Agent ID for a test agent</a:t>
            </a:r>
          </a:p>
          <a:p>
            <a:pPr>
              <a:spcAft>
                <a:spcPts val="1200"/>
              </a:spcAft>
              <a:defRPr sz="1800">
                <a:solidFill>
                  <a:srgbClr val="333333"/>
                </a:solidFill>
                <a:latin typeface="Segoe UI"/>
              </a:defRPr>
            </a:pPr>
            <a:r>
              <a:t>Assign scoped permissions using least-privilege principles</a:t>
            </a:r>
          </a:p>
          <a:p>
            <a:pPr>
              <a:spcAft>
                <a:spcPts val="1200"/>
              </a:spcAft>
              <a:defRPr sz="1800">
                <a:solidFill>
                  <a:srgbClr val="333333"/>
                </a:solidFill>
                <a:latin typeface="Segoe UI"/>
              </a:defRPr>
            </a:pPr>
            <a:r>
              <a:t>Apply a conditional access policy (e.g., restrict to specific network or resource)</a:t>
            </a:r>
          </a:p>
          <a:p>
            <a:pPr>
              <a:spcAft>
                <a:spcPts val="1200"/>
              </a:spcAft>
              <a:defRPr sz="1800">
                <a:solidFill>
                  <a:srgbClr val="333333"/>
                </a:solidFill>
                <a:latin typeface="Segoe UI"/>
              </a:defRPr>
            </a:pPr>
            <a:r>
              <a:t>Trigger agent activity and observe sign-in log entry</a:t>
            </a:r>
          </a:p>
          <a:p>
            <a:pPr>
              <a:spcAft>
                <a:spcPts val="1200"/>
              </a:spcAft>
              <a:defRPr sz="1800">
                <a:solidFill>
                  <a:srgbClr val="333333"/>
                </a:solidFill>
                <a:latin typeface="Segoe UI"/>
              </a:defRPr>
            </a:pPr>
            <a:r>
              <a:t>Demonstrate token scoping and permission boundary enforcement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How We Measure Success for Agent Identity</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Each PoV agent has a dedicated Entra Agent ID (no shared accounts)</a:t>
            </a:r>
          </a:p>
          <a:p>
            <a:pPr>
              <a:spcAft>
                <a:spcPts val="1200"/>
              </a:spcAft>
              <a:defRPr sz="1800">
                <a:solidFill>
                  <a:srgbClr val="333333"/>
                </a:solidFill>
                <a:latin typeface="Segoe UI"/>
              </a:defRPr>
            </a:pPr>
            <a:r>
              <a:t>Conditional access policy correctly blocks agent activity outside defined boundaries</a:t>
            </a:r>
          </a:p>
          <a:p>
            <a:pPr>
              <a:spcAft>
                <a:spcPts val="1200"/>
              </a:spcAft>
              <a:defRPr sz="1800">
                <a:solidFill>
                  <a:srgbClr val="333333"/>
                </a:solidFill>
                <a:latin typeface="Segoe UI"/>
              </a:defRPr>
            </a:pPr>
            <a:r>
              <a:t>Sign-in logs capture every agent authentication event with full detail</a:t>
            </a:r>
          </a:p>
          <a:p>
            <a:pPr>
              <a:spcAft>
                <a:spcPts val="1200"/>
              </a:spcAft>
              <a:defRPr sz="1800">
                <a:solidFill>
                  <a:srgbClr val="333333"/>
                </a:solidFill>
                <a:latin typeface="Segoe UI"/>
              </a:defRPr>
            </a:pPr>
            <a:r>
              <a:t>Token scoping prevents access beyond assigned permissions</a:t>
            </a:r>
          </a:p>
          <a:p>
            <a:pPr>
              <a:spcAft>
                <a:spcPts val="1200"/>
              </a:spcAft>
              <a:defRPr sz="1800">
                <a:solidFill>
                  <a:srgbClr val="333333"/>
                </a:solidFill>
                <a:latin typeface="Segoe UI"/>
              </a:defRPr>
            </a:pPr>
            <a:r>
              <a:t>Least-privilege verified: agent cannot access resources outside its scope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Why This Matters: No Parallel Identity Store</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Agents live in the same Entra ID directory as your employees</a:t>
            </a:r>
          </a:p>
          <a:p>
            <a:pPr>
              <a:spcAft>
                <a:spcPts val="1200"/>
              </a:spcAft>
              <a:defRPr sz="1800">
                <a:solidFill>
                  <a:srgbClr val="333333"/>
                </a:solidFill>
                <a:latin typeface="Segoe UI"/>
              </a:defRPr>
            </a:pPr>
            <a:r>
              <a:t>Same conditional access engine — no separate policy framework to maintain</a:t>
            </a:r>
          </a:p>
          <a:p>
            <a:pPr>
              <a:spcAft>
                <a:spcPts val="1200"/>
              </a:spcAft>
              <a:defRPr sz="1800">
                <a:solidFill>
                  <a:srgbClr val="333333"/>
                </a:solidFill>
                <a:latin typeface="Segoe UI"/>
              </a:defRPr>
            </a:pPr>
            <a:r>
              <a:t>Sign-in logs are unified — human and agent activity in one view</a:t>
            </a:r>
          </a:p>
          <a:p>
            <a:pPr>
              <a:spcAft>
                <a:spcPts val="1200"/>
              </a:spcAft>
              <a:defRPr sz="1800">
                <a:solidFill>
                  <a:srgbClr val="333333"/>
                </a:solidFill>
                <a:latin typeface="Segoe UI"/>
              </a:defRPr>
            </a:pPr>
            <a:r>
              <a:t>No third-party identity broker or agent-specific IAM tool required</a:t>
            </a:r>
          </a:p>
          <a:p>
            <a:pPr>
              <a:spcAft>
                <a:spcPts val="1200"/>
              </a:spcAft>
              <a:defRPr sz="1800">
                <a:solidFill>
                  <a:srgbClr val="333333"/>
                </a:solidFill>
                <a:latin typeface="Segoe UI"/>
              </a:defRPr>
            </a:pPr>
            <a:r>
              <a:t>Your identity team already knows how to operate this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FFFFFF"/>
                </a:solidFill>
                <a:latin typeface="Segoe UI"/>
              </a:defRPr>
            </a:pPr>
            <a:r>
              <a:t>Use Case 3</a:t>
            </a:r>
          </a:p>
          <a:p>
            <a:pPr algn="ctr">
              <a:defRPr sz="2000">
                <a:solidFill>
                  <a:srgbClr val="FFFFFF"/>
                </a:solidFill>
                <a:latin typeface="Segoe UI"/>
              </a:defRPr>
            </a:pPr>
            <a:r>
              <a:t>Sensitive Data Protection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Your DLP Policies Protect Users — Do They Protect Against Agents?</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AI agents process, summarize, and move sensitive data at scale</a:t>
            </a:r>
          </a:p>
          <a:p>
            <a:pPr>
              <a:spcAft>
                <a:spcPts val="1200"/>
              </a:spcAft>
              <a:defRPr sz="1800">
                <a:solidFill>
                  <a:srgbClr val="333333"/>
                </a:solidFill>
                <a:latin typeface="Segoe UI"/>
              </a:defRPr>
            </a:pPr>
            <a:r>
              <a:t>Without DLP enforcement, agents can exfiltrate data faster than any insider</a:t>
            </a:r>
          </a:p>
          <a:p>
            <a:pPr>
              <a:spcAft>
                <a:spcPts val="1200"/>
              </a:spcAft>
              <a:defRPr sz="1800">
                <a:solidFill>
                  <a:srgbClr val="333333"/>
                </a:solidFill>
                <a:latin typeface="Segoe UI"/>
              </a:defRPr>
            </a:pPr>
            <a:r>
              <a:t>Agent 365 extends Purview DLP and sensitivity labels to agent activities</a:t>
            </a:r>
          </a:p>
          <a:p>
            <a:pPr>
              <a:spcAft>
                <a:spcPts val="1200"/>
              </a:spcAft>
              <a:defRPr sz="1800">
                <a:solidFill>
                  <a:srgbClr val="333333"/>
                </a:solidFill>
                <a:latin typeface="Segoe UI"/>
              </a:defRPr>
            </a:pPr>
            <a:r>
              <a:t>Same policies, same audit trail, same eDiscovery — now covering agents too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Live Demo: Purview DLP and Sensitivity Labels with Agents</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Configure a DLP policy that applies to agent activities</a:t>
            </a:r>
          </a:p>
          <a:p>
            <a:pPr>
              <a:spcAft>
                <a:spcPts val="1200"/>
              </a:spcAft>
              <a:defRPr sz="1800">
                <a:solidFill>
                  <a:srgbClr val="333333"/>
                </a:solidFill>
                <a:latin typeface="Segoe UI"/>
              </a:defRPr>
            </a:pPr>
            <a:r>
              <a:t>Trigger an agent to process a sensitivity-labeled document</a:t>
            </a:r>
          </a:p>
          <a:p>
            <a:pPr>
              <a:spcAft>
                <a:spcPts val="1200"/>
              </a:spcAft>
              <a:defRPr sz="1800">
                <a:solidFill>
                  <a:srgbClr val="333333"/>
                </a:solidFill>
                <a:latin typeface="Segoe UI"/>
              </a:defRPr>
            </a:pPr>
            <a:r>
              <a:t>Observe DLP enforcement: agent action blocked or flagged</a:t>
            </a:r>
          </a:p>
          <a:p>
            <a:pPr>
              <a:spcAft>
                <a:spcPts val="1200"/>
              </a:spcAft>
              <a:defRPr sz="1800">
                <a:solidFill>
                  <a:srgbClr val="333333"/>
                </a:solidFill>
                <a:latin typeface="Segoe UI"/>
              </a:defRPr>
            </a:pPr>
            <a:r>
              <a:t>Review the audit log entry showing the policy match</a:t>
            </a:r>
          </a:p>
          <a:p>
            <a:pPr>
              <a:spcAft>
                <a:spcPts val="1200"/>
              </a:spcAft>
              <a:defRPr sz="1800">
                <a:solidFill>
                  <a:srgbClr val="333333"/>
                </a:solidFill>
                <a:latin typeface="Segoe UI"/>
              </a:defRPr>
            </a:pPr>
            <a:r>
              <a:t>Show insider risk signal generated by agent data handling pattern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How We Measure Success for Data Protection</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DLP policy correctly blocks agent from violating data handling rules</a:t>
            </a:r>
          </a:p>
          <a:p>
            <a:pPr>
              <a:spcAft>
                <a:spcPts val="1200"/>
              </a:spcAft>
              <a:defRPr sz="1800">
                <a:solidFill>
                  <a:srgbClr val="333333"/>
                </a:solidFill>
                <a:latin typeface="Segoe UI"/>
              </a:defRPr>
            </a:pPr>
            <a:r>
              <a:t>Sensitivity labels are respected by agents — labeled content is not downgraded or stripped</a:t>
            </a:r>
          </a:p>
          <a:p>
            <a:pPr>
              <a:spcAft>
                <a:spcPts val="1200"/>
              </a:spcAft>
              <a:defRPr sz="1800">
                <a:solidFill>
                  <a:srgbClr val="333333"/>
                </a:solidFill>
                <a:latin typeface="Segoe UI"/>
              </a:defRPr>
            </a:pPr>
            <a:r>
              <a:t>Audit log captures every agent interaction with sensitive content</a:t>
            </a:r>
          </a:p>
          <a:p>
            <a:pPr>
              <a:spcAft>
                <a:spcPts val="1200"/>
              </a:spcAft>
              <a:defRPr sz="1800">
                <a:solidFill>
                  <a:srgbClr val="333333"/>
                </a:solidFill>
                <a:latin typeface="Segoe UI"/>
              </a:defRPr>
            </a:pPr>
            <a:r>
              <a:t>Insider risk signal fires when agent exhibits anomalous data access pattern</a:t>
            </a:r>
          </a:p>
          <a:p>
            <a:pPr>
              <a:spcAft>
                <a:spcPts val="1200"/>
              </a:spcAft>
              <a:defRPr sz="1800">
                <a:solidFill>
                  <a:srgbClr val="333333"/>
                </a:solidFill>
                <a:latin typeface="Segoe UI"/>
              </a:defRPr>
            </a:pPr>
            <a:r>
              <a:t>eDiscovery can surface agent-touched content using same search tools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Why This Matters: One Policy Framework for Users and Agents</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Same Purview DLP rules protect both human users and AI agents</a:t>
            </a:r>
          </a:p>
          <a:p>
            <a:pPr>
              <a:spcAft>
                <a:spcPts val="1200"/>
              </a:spcAft>
              <a:defRPr sz="1800">
                <a:solidFill>
                  <a:srgbClr val="333333"/>
                </a:solidFill>
                <a:latin typeface="Segoe UI"/>
              </a:defRPr>
            </a:pPr>
            <a:r>
              <a:t>No separate data classification system for agent-accessed content</a:t>
            </a:r>
          </a:p>
          <a:p>
            <a:pPr>
              <a:spcAft>
                <a:spcPts val="1200"/>
              </a:spcAft>
              <a:defRPr sz="1800">
                <a:solidFill>
                  <a:srgbClr val="333333"/>
                </a:solidFill>
                <a:latin typeface="Segoe UI"/>
              </a:defRPr>
            </a:pPr>
            <a:r>
              <a:t>Audit trail feeds the same compliance reports auditors already accept</a:t>
            </a:r>
          </a:p>
          <a:p>
            <a:pPr>
              <a:spcAft>
                <a:spcPts val="1200"/>
              </a:spcAft>
              <a:defRPr sz="1800">
                <a:solidFill>
                  <a:srgbClr val="333333"/>
                </a:solidFill>
                <a:latin typeface="Segoe UI"/>
              </a:defRPr>
            </a:pPr>
            <a:r>
              <a:t>eDiscovery searches naturally include agent activity — no separate export</a:t>
            </a:r>
          </a:p>
          <a:p>
            <a:pPr>
              <a:spcAft>
                <a:spcPts val="1200"/>
              </a:spcAft>
              <a:defRPr sz="1800">
                <a:solidFill>
                  <a:srgbClr val="333333"/>
                </a:solidFill>
                <a:latin typeface="Segoe UI"/>
              </a:defRPr>
            </a:pPr>
            <a:r>
              <a:t>Competing solutions require duplicate policy sets with manual reconciliation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FFFFFF"/>
                </a:solidFill>
                <a:latin typeface="Segoe UI"/>
              </a:defRPr>
            </a:pPr>
            <a:r>
              <a:t>Use Case 4</a:t>
            </a:r>
          </a:p>
          <a:p>
            <a:pPr algn="ctr">
              <a:defRPr sz="2000">
                <a:solidFill>
                  <a:srgbClr val="FFFFFF"/>
                </a:solidFill>
                <a:latin typeface="Segoe UI"/>
              </a:defRPr>
            </a:pPr>
            <a:r>
              <a:t>Threat Detection and Response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Your SOC Monitors Users and Endpoints — Who's Monitoring Agents?</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Compromised agents can be weaponized for lateral movement, data theft, or privilege escalation</a:t>
            </a:r>
          </a:p>
          <a:p>
            <a:pPr>
              <a:spcAft>
                <a:spcPts val="1200"/>
              </a:spcAft>
              <a:defRPr sz="1800">
                <a:solidFill>
                  <a:srgbClr val="333333"/>
                </a:solidFill>
                <a:latin typeface="Segoe UI"/>
              </a:defRPr>
            </a:pPr>
            <a:r>
              <a:t>Agent-specific attack patterns (prompt injection, token theft, scope creep) need dedicated detection</a:t>
            </a:r>
          </a:p>
          <a:p>
            <a:pPr>
              <a:spcAft>
                <a:spcPts val="1200"/>
              </a:spcAft>
              <a:defRPr sz="1800">
                <a:solidFill>
                  <a:srgbClr val="333333"/>
                </a:solidFill>
                <a:latin typeface="Segoe UI"/>
              </a:defRPr>
            </a:pPr>
            <a:r>
              <a:t>Agent 365 makes agents first-class Defender XDR assets with runtime protection</a:t>
            </a:r>
          </a:p>
          <a:p>
            <a:pPr>
              <a:spcAft>
                <a:spcPts val="1200"/>
              </a:spcAft>
              <a:defRPr sz="1800">
                <a:solidFill>
                  <a:srgbClr val="333333"/>
                </a:solidFill>
                <a:latin typeface="Segoe UI"/>
              </a:defRPr>
            </a:pPr>
            <a:r>
              <a:t>Same SOC console, same alert queue, same incident response playbooks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Live Demo: Threat Detection and Attack-Path Visualization</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View agent assets in Defender XDR console</a:t>
            </a:r>
          </a:p>
          <a:p>
            <a:pPr>
              <a:spcAft>
                <a:spcPts val="1200"/>
              </a:spcAft>
              <a:defRPr sz="1800">
                <a:solidFill>
                  <a:srgbClr val="333333"/>
                </a:solidFill>
                <a:latin typeface="Segoe UI"/>
              </a:defRPr>
            </a:pPr>
            <a:r>
              <a:t>Trigger a simulated anomalous agent behavior</a:t>
            </a:r>
          </a:p>
          <a:p>
            <a:pPr>
              <a:spcAft>
                <a:spcPts val="1200"/>
              </a:spcAft>
              <a:defRPr sz="1800">
                <a:solidFill>
                  <a:srgbClr val="333333"/>
                </a:solidFill>
                <a:latin typeface="Segoe UI"/>
              </a:defRPr>
            </a:pPr>
            <a:r>
              <a:t>Observe alert generation in real time</a:t>
            </a:r>
          </a:p>
          <a:p>
            <a:pPr>
              <a:spcAft>
                <a:spcPts val="1200"/>
              </a:spcAft>
              <a:defRPr sz="1800">
                <a:solidFill>
                  <a:srgbClr val="333333"/>
                </a:solidFill>
                <a:latin typeface="Segoe UI"/>
              </a:defRPr>
            </a:pPr>
            <a:r>
              <a:t>Walk through attack-path visualization showing potential blast radius</a:t>
            </a:r>
          </a:p>
          <a:p>
            <a:pPr>
              <a:spcAft>
                <a:spcPts val="1200"/>
              </a:spcAft>
              <a:defRPr sz="1800">
                <a:solidFill>
                  <a:srgbClr val="333333"/>
                </a:solidFill>
                <a:latin typeface="Segoe UI"/>
              </a:defRPr>
            </a:pPr>
            <a:r>
              <a:t>Demonstrate SOC response: isolate agent, revoke tokens, investigate timeline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How We Measure Success for Threat Detection</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Defender generates alert within defined SLA for anomalous agent behavior</a:t>
            </a:r>
          </a:p>
          <a:p>
            <a:pPr>
              <a:spcAft>
                <a:spcPts val="1200"/>
              </a:spcAft>
              <a:defRPr sz="1800">
                <a:solidFill>
                  <a:srgbClr val="333333"/>
                </a:solidFill>
                <a:latin typeface="Segoe UI"/>
              </a:defRPr>
            </a:pPr>
            <a:r>
              <a:t>Attack-path visualization accurately shows agent's potential blast radius</a:t>
            </a:r>
          </a:p>
          <a:p>
            <a:pPr>
              <a:spcAft>
                <a:spcPts val="1200"/>
              </a:spcAft>
              <a:defRPr sz="1800">
                <a:solidFill>
                  <a:srgbClr val="333333"/>
                </a:solidFill>
                <a:latin typeface="Segoe UI"/>
              </a:defRPr>
            </a:pPr>
            <a:r>
              <a:t>SOC can isolate a compromised agent and revoke tokens from the same console</a:t>
            </a:r>
          </a:p>
          <a:p>
            <a:pPr>
              <a:spcAft>
                <a:spcPts val="1200"/>
              </a:spcAft>
              <a:defRPr sz="1800">
                <a:solidFill>
                  <a:srgbClr val="333333"/>
                </a:solidFill>
                <a:latin typeface="Segoe UI"/>
              </a:defRPr>
            </a:pPr>
            <a:r>
              <a:t>Runtime protection prevents agent from executing blocked actions</a:t>
            </a:r>
          </a:p>
          <a:p>
            <a:pPr>
              <a:spcAft>
                <a:spcPts val="1200"/>
              </a:spcAft>
              <a:defRPr sz="1800">
                <a:solidFill>
                  <a:srgbClr val="333333"/>
                </a:solidFill>
                <a:latin typeface="Segoe UI"/>
              </a:defRPr>
            </a:pPr>
            <a:r>
              <a:t>Incident timeline includes full agent activity history for forensics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Why This Matters: One Console, One Incident Queue</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Agents appear alongside users, devices, and apps in Defender XDR</a:t>
            </a:r>
          </a:p>
          <a:p>
            <a:pPr>
              <a:spcAft>
                <a:spcPts val="1200"/>
              </a:spcAft>
              <a:defRPr sz="1800">
                <a:solidFill>
                  <a:srgbClr val="333333"/>
                </a:solidFill>
                <a:latin typeface="Segoe UI"/>
              </a:defRPr>
            </a:pPr>
            <a:r>
              <a:t>No separate SIEM integration or custom detection rules needed</a:t>
            </a:r>
          </a:p>
          <a:p>
            <a:pPr>
              <a:spcAft>
                <a:spcPts val="1200"/>
              </a:spcAft>
              <a:defRPr sz="1800">
                <a:solidFill>
                  <a:srgbClr val="333333"/>
                </a:solidFill>
                <a:latin typeface="Segoe UI"/>
              </a:defRPr>
            </a:pPr>
            <a:r>
              <a:t>Attack-path analysis natively understands agent permissions and access patterns</a:t>
            </a:r>
          </a:p>
          <a:p>
            <a:pPr>
              <a:spcAft>
                <a:spcPts val="1200"/>
              </a:spcAft>
              <a:defRPr sz="1800">
                <a:solidFill>
                  <a:srgbClr val="333333"/>
                </a:solidFill>
                <a:latin typeface="Segoe UI"/>
              </a:defRPr>
            </a:pPr>
            <a:r>
              <a:t>SOC response actions (isolate, revoke, block) work identically for agents</a:t>
            </a:r>
          </a:p>
          <a:p>
            <a:pPr>
              <a:spcAft>
                <a:spcPts val="1200"/>
              </a:spcAft>
              <a:defRPr sz="1800">
                <a:solidFill>
                  <a:srgbClr val="333333"/>
                </a:solidFill>
                <a:latin typeface="Segoe UI"/>
              </a:defRPr>
            </a:pPr>
            <a:r>
              <a:t>Competing solutions require separate agent monitoring tools with manual SIEM forwarding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FFFFFF"/>
                </a:solidFill>
                <a:latin typeface="Segoe UI"/>
              </a:defRPr>
            </a:pPr>
            <a:r>
              <a:t>Use Case 5</a:t>
            </a:r>
          </a:p>
          <a:p>
            <a:pPr algn="ctr">
              <a:defRPr sz="2000">
                <a:solidFill>
                  <a:srgbClr val="FFFFFF"/>
                </a:solidFill>
                <a:latin typeface="Segoe UI"/>
              </a:defRPr>
            </a:pPr>
            <a:r>
              <a:t>Audit, Compliance, and Lifecycle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When Auditors Come Knocking, Can You Show the Agent Evidence Chain?</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Regulatory frameworks increasingly expect governance over autonomous AI systems</a:t>
            </a:r>
          </a:p>
          <a:p>
            <a:pPr>
              <a:spcAft>
                <a:spcPts val="1200"/>
              </a:spcAft>
              <a:defRPr sz="1800">
                <a:solidFill>
                  <a:srgbClr val="333333"/>
                </a:solidFill>
                <a:latin typeface="Segoe UI"/>
              </a:defRPr>
            </a:pPr>
            <a:r>
              <a:t>Auditors need a complete trail: who deployed it, what it accessed, when it was deactivated</a:t>
            </a:r>
          </a:p>
          <a:p>
            <a:pPr>
              <a:spcAft>
                <a:spcPts val="1200"/>
              </a:spcAft>
              <a:defRPr sz="1800">
                <a:solidFill>
                  <a:srgbClr val="333333"/>
                </a:solidFill>
                <a:latin typeface="Segoe UI"/>
              </a:defRPr>
            </a:pPr>
            <a:r>
              <a:t>Agent 365 provides full lifecycle audit through M365 compliance fabric</a:t>
            </a:r>
          </a:p>
          <a:p>
            <a:pPr>
              <a:spcAft>
                <a:spcPts val="1200"/>
              </a:spcAft>
              <a:defRPr sz="1800">
                <a:solidFill>
                  <a:srgbClr val="333333"/>
                </a:solidFill>
                <a:latin typeface="Segoe UI"/>
              </a:defRPr>
            </a:pPr>
            <a:r>
              <a:t>Same evidence format auditors already accept for user activities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Live Demo: Full Audit Trail and Lifecycle Management</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Review complete audit trail for an agent (deployment through operation)</a:t>
            </a:r>
          </a:p>
          <a:p>
            <a:pPr>
              <a:spcAft>
                <a:spcPts val="1200"/>
              </a:spcAft>
              <a:defRPr sz="1800">
                <a:solidFill>
                  <a:srgbClr val="333333"/>
                </a:solidFill>
                <a:latin typeface="Segoe UI"/>
              </a:defRPr>
            </a:pPr>
            <a:r>
              <a:t>Execute lifecycle drill: block agent, deactivate agent, delete agent</a:t>
            </a:r>
          </a:p>
          <a:p>
            <a:pPr>
              <a:spcAft>
                <a:spcPts val="1200"/>
              </a:spcAft>
              <a:defRPr sz="1800">
                <a:solidFill>
                  <a:srgbClr val="333333"/>
                </a:solidFill>
                <a:latin typeface="Segoe UI"/>
              </a:defRPr>
            </a:pPr>
            <a:r>
              <a:t>Verify each lifecycle action generates audit entry with timestamp and actor</a:t>
            </a:r>
          </a:p>
          <a:p>
            <a:pPr>
              <a:spcAft>
                <a:spcPts val="1200"/>
              </a:spcAft>
              <a:defRPr sz="1800">
                <a:solidFill>
                  <a:srgbClr val="333333"/>
                </a:solidFill>
                <a:latin typeface="Segoe UI"/>
              </a:defRPr>
            </a:pPr>
            <a:r>
              <a:t>Show data retention policy applying to agent audit records</a:t>
            </a:r>
          </a:p>
          <a:p>
            <a:pPr>
              <a:spcAft>
                <a:spcPts val="1200"/>
              </a:spcAft>
              <a:defRPr sz="1800">
                <a:solidFill>
                  <a:srgbClr val="333333"/>
                </a:solidFill>
                <a:latin typeface="Segoe UI"/>
              </a:defRPr>
            </a:pPr>
            <a:r>
              <a:t>Demonstrate compliance report including agent activities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How We Measure Success for Audit and Compliance</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Complete audit trail exists from agent deployment through deletion</a:t>
            </a:r>
          </a:p>
          <a:p>
            <a:pPr>
              <a:spcAft>
                <a:spcPts val="1200"/>
              </a:spcAft>
              <a:defRPr sz="1800">
                <a:solidFill>
                  <a:srgbClr val="333333"/>
                </a:solidFill>
                <a:latin typeface="Segoe UI"/>
              </a:defRPr>
            </a:pPr>
            <a:r>
              <a:t>Each lifecycle state change generates a timestamped audit entry</a:t>
            </a:r>
          </a:p>
          <a:p>
            <a:pPr>
              <a:spcAft>
                <a:spcPts val="1200"/>
              </a:spcAft>
              <a:defRPr sz="1800">
                <a:solidFill>
                  <a:srgbClr val="333333"/>
                </a:solidFill>
                <a:latin typeface="Segoe UI"/>
              </a:defRPr>
            </a:pPr>
            <a:r>
              <a:t>Data retention policies correctly apply to agent audit records</a:t>
            </a:r>
          </a:p>
          <a:p>
            <a:pPr>
              <a:spcAft>
                <a:spcPts val="1200"/>
              </a:spcAft>
              <a:defRPr sz="1800">
                <a:solidFill>
                  <a:srgbClr val="333333"/>
                </a:solidFill>
                <a:latin typeface="Segoe UI"/>
              </a:defRPr>
            </a:pPr>
            <a:r>
              <a:t>Compliance report export includes agent activities in accepted format</a:t>
            </a:r>
          </a:p>
          <a:p>
            <a:pPr>
              <a:spcAft>
                <a:spcPts val="1200"/>
              </a:spcAft>
              <a:defRPr sz="1800">
                <a:solidFill>
                  <a:srgbClr val="333333"/>
                </a:solidFill>
                <a:latin typeface="Segoe UI"/>
              </a:defRPr>
            </a:pPr>
            <a:r>
              <a:t>No gaps in evidence chain — auditor can reconstruct full agent history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Why This Matters: No Parallel Evidence Chain</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Agent audit data feeds the same M365 compliance fabric used for users</a:t>
            </a:r>
          </a:p>
          <a:p>
            <a:pPr>
              <a:spcAft>
                <a:spcPts val="1200"/>
              </a:spcAft>
              <a:defRPr sz="1800">
                <a:solidFill>
                  <a:srgbClr val="333333"/>
                </a:solidFill>
                <a:latin typeface="Segoe UI"/>
              </a:defRPr>
            </a:pPr>
            <a:r>
              <a:t>Auditors already accept this format — no new validation required</a:t>
            </a:r>
          </a:p>
          <a:p>
            <a:pPr>
              <a:spcAft>
                <a:spcPts val="1200"/>
              </a:spcAft>
              <a:defRPr sz="1800">
                <a:solidFill>
                  <a:srgbClr val="333333"/>
                </a:solidFill>
                <a:latin typeface="Segoe UI"/>
              </a:defRPr>
            </a:pPr>
            <a:r>
              <a:t>Data retention, legal hold, and eDiscovery apply uniformly</a:t>
            </a:r>
          </a:p>
          <a:p>
            <a:pPr>
              <a:spcAft>
                <a:spcPts val="1200"/>
              </a:spcAft>
              <a:defRPr sz="1800">
                <a:solidFill>
                  <a:srgbClr val="333333"/>
                </a:solidFill>
                <a:latin typeface="Segoe UI"/>
              </a:defRPr>
            </a:pPr>
            <a:r>
              <a:t>No separate compliance tool generating evidence that auditors must learn to trust</a:t>
            </a:r>
          </a:p>
          <a:p>
            <a:pPr>
              <a:spcAft>
                <a:spcPts val="1200"/>
              </a:spcAft>
              <a:defRPr sz="1800">
                <a:solidFill>
                  <a:srgbClr val="333333"/>
                </a:solidFill>
                <a:latin typeface="Segoe UI"/>
              </a:defRPr>
            </a:pPr>
            <a:r>
              <a:t>Competing solutions create a second evidence chain requiring separate attestation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Under the Hood: How Agent Lifecycle Feeds Compliance</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Every agent action generates a unified audit log entry (same schema as user events)</a:t>
            </a:r>
          </a:p>
          <a:p>
            <a:pPr>
              <a:spcAft>
                <a:spcPts val="1200"/>
              </a:spcAft>
              <a:defRPr sz="1800">
                <a:solidFill>
                  <a:srgbClr val="333333"/>
                </a:solidFill>
                <a:latin typeface="Segoe UI"/>
              </a:defRPr>
            </a:pPr>
            <a:r>
              <a:t>Lifecycle state changes trigger compliance workflow notifications</a:t>
            </a:r>
          </a:p>
          <a:p>
            <a:pPr>
              <a:spcAft>
                <a:spcPts val="1200"/>
              </a:spcAft>
              <a:defRPr sz="1800">
                <a:solidFill>
                  <a:srgbClr val="333333"/>
                </a:solidFill>
                <a:latin typeface="Segoe UI"/>
              </a:defRPr>
            </a:pPr>
            <a:r>
              <a:t>Retention labels auto-apply to agent audit records based on classification</a:t>
            </a:r>
          </a:p>
          <a:p>
            <a:pPr>
              <a:spcAft>
                <a:spcPts val="1200"/>
              </a:spcAft>
              <a:defRPr sz="1800">
                <a:solidFill>
                  <a:srgbClr val="333333"/>
                </a:solidFill>
                <a:latin typeface="Segoe UI"/>
              </a:defRPr>
            </a:pPr>
            <a:r>
              <a:t>eDiscovery index includes agent-generated content and interactions</a:t>
            </a:r>
          </a:p>
          <a:p>
            <a:pPr>
              <a:spcAft>
                <a:spcPts val="1200"/>
              </a:spcAft>
              <a:defRPr sz="1800">
                <a:solidFill>
                  <a:srgbClr val="333333"/>
                </a:solidFill>
                <a:latin typeface="Segoe UI"/>
              </a:defRPr>
            </a:pPr>
            <a:r>
              <a:t>Export APIs produce audit packages in standard regulatory formats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FFFFFF"/>
                </a:solidFill>
                <a:latin typeface="Segoe UI"/>
              </a:defRPr>
            </a:pPr>
            <a:r>
              <a:t>Use Case 6</a:t>
            </a:r>
          </a:p>
          <a:p>
            <a:pPr algn="ctr">
              <a:defRPr sz="2000">
                <a:solidFill>
                  <a:srgbClr val="FFFFFF"/>
                </a:solidFill>
                <a:latin typeface="Segoe UI"/>
              </a:defRPr>
            </a:pPr>
            <a:r>
              <a:t>Productivity Integration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Agents in Outlook, Teams, Word, and SharePoint — Governed or Ungoverned?</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AI agents increasingly operate within productivity tools — drafting emails, posting in Teams, editing documents</a:t>
            </a:r>
          </a:p>
          <a:p>
            <a:pPr>
              <a:spcAft>
                <a:spcPts val="1200"/>
              </a:spcAft>
              <a:defRPr sz="1800">
                <a:solidFill>
                  <a:srgbClr val="333333"/>
                </a:solidFill>
                <a:latin typeface="Segoe UI"/>
              </a:defRPr>
            </a:pPr>
            <a:r>
              <a:t>Without governance, these agents act with unbounded access across your collaboration surface</a:t>
            </a:r>
          </a:p>
          <a:p>
            <a:pPr>
              <a:spcAft>
                <a:spcPts val="1200"/>
              </a:spcAft>
              <a:defRPr sz="1800">
                <a:solidFill>
                  <a:srgbClr val="333333"/>
                </a:solidFill>
                <a:latin typeface="Segoe UI"/>
              </a:defRPr>
            </a:pPr>
            <a:r>
              <a:t>Agent 365 enables governed connections with real-time allow/block enforcement</a:t>
            </a:r>
          </a:p>
          <a:p>
            <a:pPr>
              <a:spcAft>
                <a:spcPts val="1200"/>
              </a:spcAft>
              <a:defRPr sz="1800">
                <a:solidFill>
                  <a:srgbClr val="333333"/>
                </a:solidFill>
                <a:latin typeface="Segoe UI"/>
              </a:defRPr>
            </a:pPr>
            <a:r>
              <a:t>Same productivity surface users know — no separate agent UI or plug-in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Live Demo: Allow/Block Enforcement in Real Time</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Block an entire connection (e.g., "Block Outlook Calendar connection")</a:t>
            </a:r>
          </a:p>
          <a:p>
            <a:pPr>
              <a:spcAft>
                <a:spcPts val="1200"/>
              </a:spcAft>
              <a:defRPr sz="1800">
                <a:solidFill>
                  <a:srgbClr val="333333"/>
                </a:solidFill>
                <a:latin typeface="Segoe UI"/>
              </a:defRPr>
            </a:pPr>
            <a:r>
              <a:t>Demonstrate that the blocked connection prevents all agent access</a:t>
            </a:r>
          </a:p>
          <a:p>
            <a:pPr>
              <a:spcAft>
                <a:spcPts val="1200"/>
              </a:spcAft>
              <a:defRPr sz="1800">
                <a:solidFill>
                  <a:srgbClr val="333333"/>
                </a:solidFill>
                <a:latin typeface="Segoe UI"/>
              </a:defRPr>
            </a:pPr>
            <a:r>
              <a:t>Show enforcement in real time</a:t>
            </a:r>
          </a:p>
          <a:p>
            <a:pPr>
              <a:spcAft>
                <a:spcPts val="1200"/>
              </a:spcAft>
              <a:defRPr sz="1800">
                <a:solidFill>
                  <a:srgbClr val="333333"/>
                </a:solidFill>
                <a:latin typeface="Segoe UI"/>
              </a:defRPr>
            </a:pPr>
            <a:r>
              <a:t>Review audit trail capturing the blocked connection attempt</a:t>
            </a:r>
          </a:p>
          <a:p>
            <a:pPr>
              <a:spcAft>
                <a:spcPts val="1200"/>
              </a:spcAft>
              <a:defRPr sz="1800">
                <a:solidFill>
                  <a:srgbClr val="333333"/>
                </a:solidFill>
                <a:latin typeface="Segoe UI"/>
              </a:defRPr>
            </a:pPr>
            <a:r>
              <a:t>Apply connection-level blocking across multiple M365 apps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How We Measure Success for Productivity Integration</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Agent successfully operates within allowed boundaries in Outlook, Teams, Word, and/or SharePoint</a:t>
            </a:r>
          </a:p>
          <a:p>
            <a:pPr>
              <a:spcAft>
                <a:spcPts val="1200"/>
              </a:spcAft>
              <a:defRPr sz="1800">
                <a:solidFill>
                  <a:srgbClr val="333333"/>
                </a:solidFill>
                <a:latin typeface="Segoe UI"/>
              </a:defRPr>
            </a:pPr>
            <a:r>
              <a:t>Blocked actions are denied in real time (sub-second enforcement)</a:t>
            </a:r>
          </a:p>
          <a:p>
            <a:pPr>
              <a:spcAft>
                <a:spcPts val="1200"/>
              </a:spcAft>
              <a:defRPr sz="1800">
                <a:solidFill>
                  <a:srgbClr val="333333"/>
                </a:solidFill>
                <a:latin typeface="Segoe UI"/>
              </a:defRPr>
            </a:pPr>
            <a:r>
              <a:t>Allow/block policies can be changed and take effect without redeploying the agent</a:t>
            </a:r>
          </a:p>
          <a:p>
            <a:pPr>
              <a:spcAft>
                <a:spcPts val="1200"/>
              </a:spcAft>
              <a:defRPr sz="1800">
                <a:solidFill>
                  <a:srgbClr val="333333"/>
                </a:solidFill>
                <a:latin typeface="Segoe UI"/>
              </a:defRPr>
            </a:pPr>
            <a:r>
              <a:t>Audit trail captures both allowed and blocked actions with full context</a:t>
            </a:r>
          </a:p>
          <a:p>
            <a:pPr>
              <a:spcAft>
                <a:spcPts val="1200"/>
              </a:spcAft>
              <a:defRPr sz="1800">
                <a:solidFill>
                  <a:srgbClr val="333333"/>
                </a:solidFill>
                <a:latin typeface="Segoe UI"/>
              </a:defRPr>
            </a:pPr>
            <a:r>
              <a:t>End users experience no disruption — governance is invisible to them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Why This Matters: No Separate Agent UI</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Agents operate natively within M365 apps — no separate interface for users to learn</a:t>
            </a:r>
          </a:p>
          <a:p>
            <a:pPr>
              <a:spcAft>
                <a:spcPts val="1200"/>
              </a:spcAft>
              <a:defRPr sz="1800">
                <a:solidFill>
                  <a:srgbClr val="333333"/>
                </a:solidFill>
                <a:latin typeface="Segoe UI"/>
              </a:defRPr>
            </a:pPr>
            <a:r>
              <a:t>Governance is platform-level — not a per-app plug-in that can be bypassed</a:t>
            </a:r>
          </a:p>
          <a:p>
            <a:pPr>
              <a:spcAft>
                <a:spcPts val="1200"/>
              </a:spcAft>
              <a:defRPr sz="1800">
                <a:solidFill>
                  <a:srgbClr val="333333"/>
                </a:solidFill>
                <a:latin typeface="Segoe UI"/>
              </a:defRPr>
            </a:pPr>
            <a:r>
              <a:t>Allow/block enforcement is real-time and centrally managed</a:t>
            </a:r>
          </a:p>
          <a:p>
            <a:pPr>
              <a:spcAft>
                <a:spcPts val="1200"/>
              </a:spcAft>
              <a:defRPr sz="1800">
                <a:solidFill>
                  <a:srgbClr val="333333"/>
                </a:solidFill>
                <a:latin typeface="Segoe UI"/>
              </a:defRPr>
            </a:pPr>
            <a:r>
              <a:t>Users interact with agent output in the apps they already use daily</a:t>
            </a:r>
          </a:p>
          <a:p>
            <a:pPr>
              <a:spcAft>
                <a:spcPts val="1200"/>
              </a:spcAft>
              <a:defRPr sz="1800">
                <a:solidFill>
                  <a:srgbClr val="333333"/>
                </a:solidFill>
                <a:latin typeface="Segoe UI"/>
              </a:defRPr>
            </a:pPr>
            <a:r>
              <a:t>Competing solutions require browser extensions, sidebars, or standalone agent portals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FFFFFF"/>
                </a:solidFill>
                <a:latin typeface="Segoe UI"/>
              </a:defRPr>
            </a:pPr>
            <a:r>
              <a:t>Summary &amp; Next Steps</a:t>
            </a:r>
          </a:p>
          <a:p>
            <a:pPr algn="ctr">
              <a:defRPr sz="2000">
                <a:solidFill>
                  <a:srgbClr val="FFFFFF"/>
                </a:solidFill>
                <a:latin typeface="Segoe UI"/>
              </a:defRPr>
            </a:pPr>
            <a:r>
              <a:t>From Proof of Value to Production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What We Proved: Agent Governance That Works Today</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 UC1: Every agent discovered and registered — zero shadow agents</a:t>
            </a:r>
          </a:p>
          <a:p>
            <a:pPr>
              <a:spcAft>
                <a:spcPts val="1200"/>
              </a:spcAft>
              <a:defRPr sz="1800">
                <a:solidFill>
                  <a:srgbClr val="333333"/>
                </a:solidFill>
                <a:latin typeface="Segoe UI"/>
              </a:defRPr>
            </a:pPr>
            <a:r>
              <a:t>✅ UC2: Dedicated identity with least-privilege — same fabric as employees</a:t>
            </a:r>
          </a:p>
          <a:p>
            <a:pPr>
              <a:spcAft>
                <a:spcPts val="1200"/>
              </a:spcAft>
              <a:defRPr sz="1800">
                <a:solidFill>
                  <a:srgbClr val="333333"/>
                </a:solidFill>
                <a:latin typeface="Segoe UI"/>
              </a:defRPr>
            </a:pPr>
            <a:r>
              <a:t>✅ UC3: DLP and sensitivity labels enforced — same policies as users</a:t>
            </a:r>
          </a:p>
          <a:p>
            <a:pPr>
              <a:spcAft>
                <a:spcPts val="1200"/>
              </a:spcAft>
              <a:defRPr sz="1800">
                <a:solidFill>
                  <a:srgbClr val="333333"/>
                </a:solidFill>
                <a:latin typeface="Segoe UI"/>
              </a:defRPr>
            </a:pPr>
            <a:r>
              <a:t>✅ UC4: Threat detection and response — agents as first-class Defender assets</a:t>
            </a:r>
          </a:p>
          <a:p>
            <a:pPr>
              <a:spcAft>
                <a:spcPts val="1200"/>
              </a:spcAft>
              <a:defRPr sz="1800">
                <a:solidFill>
                  <a:srgbClr val="333333"/>
                </a:solidFill>
                <a:latin typeface="Segoe UI"/>
              </a:defRPr>
            </a:pPr>
            <a:r>
              <a:t>✅ UC5: Full audit trail — compliance fabric auditors already trust</a:t>
            </a:r>
          </a:p>
          <a:p>
            <a:pPr>
              <a:spcAft>
                <a:spcPts val="1200"/>
              </a:spcAft>
              <a:defRPr sz="1800">
                <a:solidFill>
                  <a:srgbClr val="333333"/>
                </a:solidFill>
                <a:latin typeface="Segoe UI"/>
              </a:defRPr>
            </a:pPr>
            <a:r>
              <a:t>✅ UC6: Governed productivity integration — real-time allow/block, no plug-ins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Broader Rollout: Extending Agent Governance Across Your Organization</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Expand from 3+ PoV agents to full agent estate</a:t>
            </a:r>
          </a:p>
          <a:p>
            <a:pPr>
              <a:spcAft>
                <a:spcPts val="1200"/>
              </a:spcAft>
              <a:defRPr sz="1800">
                <a:solidFill>
                  <a:srgbClr val="333333"/>
                </a:solidFill>
                <a:latin typeface="Segoe UI"/>
              </a:defRPr>
            </a:pPr>
            <a:r>
              <a:t>Integrate agent governance into existing change management processes</a:t>
            </a:r>
          </a:p>
          <a:p>
            <a:pPr>
              <a:spcAft>
                <a:spcPts val="1200"/>
              </a:spcAft>
              <a:defRPr sz="1800">
                <a:solidFill>
                  <a:srgbClr val="333333"/>
                </a:solidFill>
                <a:latin typeface="Segoe UI"/>
              </a:defRPr>
            </a:pPr>
            <a:r>
              <a:t>Align agent lifecycle policies with your compliance calendar</a:t>
            </a:r>
          </a:p>
          <a:p>
            <a:pPr>
              <a:spcAft>
                <a:spcPts val="1200"/>
              </a:spcAft>
              <a:defRPr sz="1800">
                <a:solidFill>
                  <a:srgbClr val="333333"/>
                </a:solidFill>
                <a:latin typeface="Segoe UI"/>
              </a:defRPr>
            </a:pPr>
            <a:r>
              <a:t>Enable self-service agent registration with guardrails for development teams</a:t>
            </a:r>
          </a:p>
          <a:p>
            <a:pPr>
              <a:spcAft>
                <a:spcPts val="1200"/>
              </a:spcAft>
              <a:defRPr sz="1800">
                <a:solidFill>
                  <a:srgbClr val="333333"/>
                </a:solidFill>
                <a:latin typeface="Segoe UI"/>
              </a:defRPr>
            </a:pPr>
            <a:r>
              <a:t>Establish ongoing monitoring cadence with SOC team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Let's Keep the Conversation Going</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Your Microsoft account team: [Account Team Contacts]</a:t>
            </a:r>
          </a:p>
          <a:p>
            <a:pPr>
              <a:spcAft>
                <a:spcPts val="1200"/>
              </a:spcAft>
              <a:defRPr sz="1800">
                <a:solidFill>
                  <a:srgbClr val="333333"/>
                </a:solidFill>
                <a:latin typeface="Segoe UI"/>
              </a:defRPr>
            </a:pPr>
            <a:r>
              <a:t>Agent 365 documentation: [Link to docs]</a:t>
            </a:r>
          </a:p>
          <a:p>
            <a:pPr>
              <a:spcAft>
                <a:spcPts val="1200"/>
              </a:spcAft>
              <a:defRPr sz="1800">
                <a:solidFill>
                  <a:srgbClr val="333333"/>
                </a:solidFill>
                <a:latin typeface="Segoe UI"/>
              </a:defRPr>
            </a:pPr>
            <a:r>
              <a:t>PoV completion report: [Will be delivered at engagement close]</a:t>
            </a:r>
          </a:p>
          <a:p>
            <a:pPr>
              <a:spcAft>
                <a:spcPts val="1200"/>
              </a:spcAft>
              <a:defRPr sz="1800">
                <a:solidFill>
                  <a:srgbClr val="333333"/>
                </a:solidFill>
                <a:latin typeface="Segoe UI"/>
              </a:defRPr>
            </a:pPr>
            <a:r>
              <a:t>FastTrack support for production deployment: [Link/contact]</a:t>
            </a:r>
          </a:p>
          <a:p>
            <a:pPr>
              <a:spcAft>
                <a:spcPts val="1200"/>
              </a:spcAft>
              <a:defRPr sz="1800">
                <a:solidFill>
                  <a:srgbClr val="333333"/>
                </a:solidFill>
                <a:latin typeface="Segoe UI"/>
              </a:defRPr>
            </a:pPr>
            <a:r>
              <a:t>Community and feedback: [Tech Community link]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FFFFFF"/>
                </a:solidFill>
                <a:latin typeface="Segoe UI"/>
              </a:defRPr>
            </a:pPr>
            <a:r>
              <a:t>Appendix</a:t>
            </a:r>
          </a:p>
          <a:p>
            <a:pPr algn="ctr">
              <a:defRPr sz="2000">
                <a:solidFill>
                  <a:srgbClr val="FFFFFF"/>
                </a:solidFill>
                <a:latin typeface="Segoe UI"/>
              </a:defRPr>
            </a:pPr>
            <a:r>
              <a:t>Reference Materials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Roles &amp; Responsibilities</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Executive Sponsor — Approves scope, provides access, makes go/no-go decision</a:t>
            </a:r>
          </a:p>
          <a:p>
            <a:pPr>
              <a:spcAft>
                <a:spcPts val="1200"/>
              </a:spcAft>
              <a:defRPr sz="1800">
                <a:solidFill>
                  <a:srgbClr val="333333"/>
                </a:solidFill>
                <a:latin typeface="Segoe UI"/>
              </a:defRPr>
            </a:pPr>
            <a:r>
              <a:t>IT Admin — Configures M365 Admin Center, manages agent registry</a:t>
            </a:r>
          </a:p>
          <a:p>
            <a:pPr>
              <a:spcAft>
                <a:spcPts val="1200"/>
              </a:spcAft>
              <a:defRPr sz="1800">
                <a:solidFill>
                  <a:srgbClr val="333333"/>
                </a:solidFill>
                <a:latin typeface="Segoe UI"/>
              </a:defRPr>
            </a:pPr>
            <a:r>
              <a:t>Identity Admin — Manages Entra ID agent identities, conditional access policies</a:t>
            </a:r>
          </a:p>
          <a:p>
            <a:pPr>
              <a:spcAft>
                <a:spcPts val="1200"/>
              </a:spcAft>
              <a:defRPr sz="1800">
                <a:solidFill>
                  <a:srgbClr val="333333"/>
                </a:solidFill>
                <a:latin typeface="Segoe UI"/>
              </a:defRPr>
            </a:pPr>
            <a:r>
              <a:t>Data Security Lead — Configures Purview DLP, sensitivity labels for agents</a:t>
            </a:r>
          </a:p>
          <a:p>
            <a:pPr>
              <a:spcAft>
                <a:spcPts val="1200"/>
              </a:spcAft>
              <a:defRPr sz="1800">
                <a:solidFill>
                  <a:srgbClr val="333333"/>
                </a:solidFill>
                <a:latin typeface="Segoe UI"/>
              </a:defRPr>
            </a:pPr>
            <a:r>
              <a:t>SOC Analyst — Monitors Defender alerts, investigates agent threats, runs response</a:t>
            </a:r>
          </a:p>
          <a:p>
            <a:pPr>
              <a:spcAft>
                <a:spcPts val="1200"/>
              </a:spcAft>
              <a:defRPr sz="1800">
                <a:solidFill>
                  <a:srgbClr val="333333"/>
                </a:solidFill>
                <a:latin typeface="Segoe UI"/>
              </a:defRPr>
            </a:pPr>
            <a:r>
              <a:t>Business Owners — Identify agents for PoV, validate success criteria alignment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Agent Types in Scope</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Microsoft 365 Copilot</a:t>
            </a:r>
          </a:p>
          <a:p>
            <a:pPr>
              <a:spcAft>
                <a:spcPts val="1200"/>
              </a:spcAft>
              <a:defRPr sz="1800">
                <a:solidFill>
                  <a:srgbClr val="333333"/>
                </a:solidFill>
                <a:latin typeface="Segoe UI"/>
              </a:defRPr>
            </a:pPr>
            <a:r>
              <a:t>Copilot Agent Builder agents</a:t>
            </a:r>
          </a:p>
          <a:p>
            <a:pPr>
              <a:spcAft>
                <a:spcPts val="1200"/>
              </a:spcAft>
              <a:defRPr sz="1800">
                <a:solidFill>
                  <a:srgbClr val="333333"/>
                </a:solidFill>
                <a:latin typeface="Segoe UI"/>
              </a:defRPr>
            </a:pPr>
            <a:r>
              <a:t>Copilot Studio agents</a:t>
            </a:r>
          </a:p>
          <a:p>
            <a:pPr>
              <a:spcAft>
                <a:spcPts val="1200"/>
              </a:spcAft>
              <a:defRPr sz="1800">
                <a:solidFill>
                  <a:srgbClr val="333333"/>
                </a:solidFill>
                <a:latin typeface="Segoe UI"/>
              </a:defRPr>
            </a:pPr>
            <a:r>
              <a:t>Microsoft 365 Copilot Chat</a:t>
            </a:r>
          </a:p>
          <a:p>
            <a:pPr>
              <a:spcAft>
                <a:spcPts val="1200"/>
              </a:spcAft>
              <a:defRPr sz="1800">
                <a:solidFill>
                  <a:srgbClr val="333333"/>
                </a:solidFill>
                <a:latin typeface="Segoe UI"/>
              </a:defRPr>
            </a:pPr>
            <a:r>
              <a:t>SharePoint agents</a:t>
            </a:r>
          </a:p>
          <a:p>
            <a:pPr>
              <a:spcAft>
                <a:spcPts val="1200"/>
              </a:spcAft>
              <a:defRPr sz="1800">
                <a:solidFill>
                  <a:srgbClr val="333333"/>
                </a:solidFill>
                <a:latin typeface="Segoe UI"/>
              </a:defRPr>
            </a:pPr>
            <a:r>
              <a:t>Azure AI Foundry agents</a:t>
            </a:r>
          </a:p>
          <a:p>
            <a:pPr>
              <a:spcAft>
                <a:spcPts val="1200"/>
              </a:spcAft>
              <a:defRPr sz="1800">
                <a:solidFill>
                  <a:srgbClr val="333333"/>
                </a:solidFill>
                <a:latin typeface="Segoe UI"/>
              </a:defRPr>
            </a:pPr>
            <a:r>
              <a:t>First-party Microsoft agents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a:lstStyle/>
          <a:p>
            <a:pPr algn="l">
              <a:defRPr sz="2800" b="1">
                <a:solidFill>
                  <a:srgbClr val="FFFFFF"/>
                </a:solidFill>
                <a:latin typeface="Segoe UI"/>
              </a:defRPr>
            </a:pPr>
            <a:r>
              <a:t>Glossary</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1800">
                <a:solidFill>
                  <a:srgbClr val="333333"/>
                </a:solidFill>
                <a:latin typeface="Segoe UI"/>
              </a:defRPr>
            </a:pPr>
            <a:r>
              <a:t>Agent 365 — Microsoft 365 governance capability set for AI agents (not a separate SKU)</a:t>
            </a:r>
          </a:p>
          <a:p>
            <a:pPr>
              <a:spcAft>
                <a:spcPts val="1200"/>
              </a:spcAft>
              <a:defRPr sz="1800">
                <a:solidFill>
                  <a:srgbClr val="333333"/>
                </a:solidFill>
                <a:latin typeface="Segoe UI"/>
              </a:defRPr>
            </a:pPr>
            <a:r>
              <a:t>Entra Agent ID — Workload identity in Entra ID purpose-built for agent governance</a:t>
            </a:r>
          </a:p>
          <a:p>
            <a:pPr>
              <a:spcAft>
                <a:spcPts val="1200"/>
              </a:spcAft>
              <a:defRPr sz="1800">
                <a:solidFill>
                  <a:srgbClr val="333333"/>
                </a:solidFill>
                <a:latin typeface="Segoe UI"/>
              </a:defRPr>
            </a:pPr>
            <a:r>
              <a:t>Unified Audit Log — M365 compliance system of record for all user and agent activity</a:t>
            </a:r>
          </a:p>
          <a:p>
            <a:pPr>
              <a:spcAft>
                <a:spcPts val="1200"/>
              </a:spcAft>
              <a:defRPr sz="1800">
                <a:solidFill>
                  <a:srgbClr val="333333"/>
                </a:solidFill>
                <a:latin typeface="Segoe UI"/>
              </a:defRPr>
            </a:pPr>
            <a:r>
              <a:t>Conditional Access — Policy engine enforcing identity-based access rules</a:t>
            </a:r>
          </a:p>
          <a:p>
            <a:pPr>
              <a:spcAft>
                <a:spcPts val="1200"/>
              </a:spcAft>
              <a:defRPr sz="1800">
                <a:solidFill>
                  <a:srgbClr val="333333"/>
                </a:solidFill>
                <a:latin typeface="Segoe UI"/>
              </a:defRPr>
            </a:pPr>
            <a:r>
              <a:t>DLP (Data Loss Prevention) — Purview policies preventing unauthorized data exposure</a:t>
            </a:r>
          </a:p>
          <a:p>
            <a:pPr>
              <a:spcAft>
                <a:spcPts val="1200"/>
              </a:spcAft>
              <a:defRPr sz="1800">
                <a:solidFill>
                  <a:srgbClr val="333333"/>
                </a:solidFill>
                <a:latin typeface="Segoe UI"/>
              </a:defRPr>
            </a:pPr>
            <a:r>
              <a:t>Sensitivity Labels — Classification and protection tags that travel with content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